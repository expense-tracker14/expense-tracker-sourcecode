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70" r:id="rId2"/>
    <p:sldId id="271" r:id="rId3"/>
    <p:sldId id="273" r:id="rId4"/>
    <p:sldId id="259" r:id="rId5"/>
    <p:sldId id="262" r:id="rId6"/>
    <p:sldId id="256" r:id="rId7"/>
    <p:sldId id="276" r:id="rId8"/>
    <p:sldId id="266" r:id="rId9"/>
    <p:sldId id="274"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51A"/>
    <a:srgbClr val="425166"/>
    <a:srgbClr val="333F50"/>
    <a:srgbClr val="8631C5"/>
    <a:srgbClr val="2D60EF"/>
    <a:srgbClr val="E49580"/>
    <a:srgbClr val="84B4E0"/>
    <a:srgbClr val="2F8FF9"/>
    <a:srgbClr val="5C91DE"/>
    <a:srgbClr val="5A8F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13" autoAdjust="0"/>
    <p:restoredTop sz="94660"/>
  </p:normalViewPr>
  <p:slideViewPr>
    <p:cSldViewPr snapToGrid="0">
      <p:cViewPr varScale="1">
        <p:scale>
          <a:sx n="76" d="100"/>
          <a:sy n="76" d="100"/>
        </p:scale>
        <p:origin x="4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5F9FF5-F66A-4BA6-BFD5-DF9B1C80C5D8}" type="datetimeFigureOut">
              <a:rPr lang="en-IN" smtClean="0"/>
              <a:t>10-04-2026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1A79C4-2609-4B10-81C6-16E42DC48028}" type="slidenum">
              <a:rPr lang="en-IN" smtClean="0"/>
              <a:t>‹#›</a:t>
            </a:fld>
            <a:endParaRPr lang="en-IN" dirty="0"/>
          </a:p>
        </p:txBody>
      </p:sp>
    </p:spTree>
    <p:extLst>
      <p:ext uri="{BB962C8B-B14F-4D97-AF65-F5344CB8AC3E}">
        <p14:creationId xmlns:p14="http://schemas.microsoft.com/office/powerpoint/2010/main" val="139978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81A79C4-2609-4B10-81C6-16E42DC48028}" type="slidenum">
              <a:rPr lang="en-IN" smtClean="0"/>
              <a:t>3</a:t>
            </a:fld>
            <a:endParaRPr lang="en-IN" dirty="0"/>
          </a:p>
        </p:txBody>
      </p:sp>
    </p:spTree>
    <p:extLst>
      <p:ext uri="{BB962C8B-B14F-4D97-AF65-F5344CB8AC3E}">
        <p14:creationId xmlns:p14="http://schemas.microsoft.com/office/powerpoint/2010/main" val="2590191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81A79C4-2609-4B10-81C6-16E42DC48028}" type="slidenum">
              <a:rPr lang="en-IN" smtClean="0"/>
              <a:t>5</a:t>
            </a:fld>
            <a:endParaRPr lang="en-IN" dirty="0"/>
          </a:p>
        </p:txBody>
      </p:sp>
    </p:spTree>
    <p:extLst>
      <p:ext uri="{BB962C8B-B14F-4D97-AF65-F5344CB8AC3E}">
        <p14:creationId xmlns:p14="http://schemas.microsoft.com/office/powerpoint/2010/main" val="3856549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59C62-6212-F84C-84D4-8D2EAB1822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52CF0F6-7AB1-D119-8420-4CDC1BDB49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8560EE-1815-1F07-5CB7-689BBF500762}"/>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5" name="Footer Placeholder 4">
            <a:extLst>
              <a:ext uri="{FF2B5EF4-FFF2-40B4-BE49-F238E27FC236}">
                <a16:creationId xmlns:a16="http://schemas.microsoft.com/office/drawing/2014/main" id="{1B61AF94-9FBF-D0C2-0121-347486E0796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972C9F1-464F-A424-7867-D870921D1C1C}"/>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4083869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9DB84-6715-CA32-BE08-BA1A7DDBD3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2F194B-5D40-C5DD-3938-CB9DF6FDC1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4D85CE-905A-C7A5-1CD5-E49133655DDD}"/>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5" name="Footer Placeholder 4">
            <a:extLst>
              <a:ext uri="{FF2B5EF4-FFF2-40B4-BE49-F238E27FC236}">
                <a16:creationId xmlns:a16="http://schemas.microsoft.com/office/drawing/2014/main" id="{EF548D7B-34C0-CAE1-919A-8D4EDE6D0AF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730BF28-3CF6-A136-679F-170EDAE10762}"/>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1767241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A80C7-7101-5D9A-5048-3C691DDBCD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6430AD-8488-65A0-9022-E6B7FA432A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4B4315-D376-AA6A-9185-77C2B3B0A802}"/>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5" name="Footer Placeholder 4">
            <a:extLst>
              <a:ext uri="{FF2B5EF4-FFF2-40B4-BE49-F238E27FC236}">
                <a16:creationId xmlns:a16="http://schemas.microsoft.com/office/drawing/2014/main" id="{8A7303C1-7923-AEB4-96D0-6822D0AE6B7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D8F7053-FAAB-2180-700F-17311326A315}"/>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777527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6A84B-88B7-2BA0-4492-32F8634A87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714F5B-7355-50A0-3E35-76963D2392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8364C45-EA2F-AC76-0DB6-0EA3AEC21F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A240F0-AD86-5F9D-62A6-827A6D705EEB}"/>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6" name="Footer Placeholder 5">
            <a:extLst>
              <a:ext uri="{FF2B5EF4-FFF2-40B4-BE49-F238E27FC236}">
                <a16:creationId xmlns:a16="http://schemas.microsoft.com/office/drawing/2014/main" id="{311AAA0D-68B6-DBE7-29B1-D879A296042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9DC6D5C5-8306-DF28-EF85-5A1FA0ABC595}"/>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270005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EA33B-A3AA-168A-4C33-7E8E8EAA13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D169D3-3CBF-B876-D1F7-3A2B5CF3BE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0D080F-E164-8125-C31C-AC5A950E18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93EE31-1F11-EDAB-710D-65A7E93243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3A2279-B931-E881-E21A-B3EE4B3205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B1EE17-D173-69A5-5541-BDB06887A26B}"/>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8" name="Footer Placeholder 7">
            <a:extLst>
              <a:ext uri="{FF2B5EF4-FFF2-40B4-BE49-F238E27FC236}">
                <a16:creationId xmlns:a16="http://schemas.microsoft.com/office/drawing/2014/main" id="{E660989C-EE86-6C20-9078-93216C45F980}"/>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22370670-2BFC-6029-FDC4-8C8271D45F80}"/>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1470204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28F8-40E6-47ED-553F-CED26FED96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C7F250-C0A9-615E-6B90-432172E0179B}"/>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4" name="Footer Placeholder 3">
            <a:extLst>
              <a:ext uri="{FF2B5EF4-FFF2-40B4-BE49-F238E27FC236}">
                <a16:creationId xmlns:a16="http://schemas.microsoft.com/office/drawing/2014/main" id="{06520E7F-9231-D38C-7A22-B083D8DD693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74EECEA0-934D-9D08-E8B5-8584C225FC3E}"/>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3892557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900A8E-F5B0-34E1-7D76-4F111336B48C}"/>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3" name="Footer Placeholder 2">
            <a:extLst>
              <a:ext uri="{FF2B5EF4-FFF2-40B4-BE49-F238E27FC236}">
                <a16:creationId xmlns:a16="http://schemas.microsoft.com/office/drawing/2014/main" id="{36DA08F1-A69E-586F-F6CA-BE7721503077}"/>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38B42390-F841-3DF1-3F12-8F7FC4DFCD6B}"/>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4214023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6D97-AF26-7755-86F0-56BAD8AEDE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74D69E-D1EE-5B6F-7581-2D59DFDD61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DAFB5E-FB11-A244-5336-6B805B9441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3D1815-AC9F-4C2E-848B-049B064CC633}"/>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6" name="Footer Placeholder 5">
            <a:extLst>
              <a:ext uri="{FF2B5EF4-FFF2-40B4-BE49-F238E27FC236}">
                <a16:creationId xmlns:a16="http://schemas.microsoft.com/office/drawing/2014/main" id="{EEE4EC32-40DF-0CD1-0EB2-0718B4FA766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0DC82F7-7C94-02FF-324D-71497343490F}"/>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1831326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8065-4037-512A-D109-4D7F5240C9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EA0302-0377-ECB0-E3CA-5916B5BBF3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76BD5205-6AE4-CD35-04DE-F903A7429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E37FF-D846-BAB2-D319-7BBE67C06CFF}"/>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6" name="Footer Placeholder 5">
            <a:extLst>
              <a:ext uri="{FF2B5EF4-FFF2-40B4-BE49-F238E27FC236}">
                <a16:creationId xmlns:a16="http://schemas.microsoft.com/office/drawing/2014/main" id="{863EF019-642A-2670-1603-6032F4EC2AB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E307266-C21D-35CE-1926-3B699B640227}"/>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23501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3C195-D16C-905C-02E5-3FA690EF17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84BADC-6C01-D853-B695-3F43A4F9FC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EE6923-E1B5-875F-4B5F-6E15D2A0A8C1}"/>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5" name="Footer Placeholder 4">
            <a:extLst>
              <a:ext uri="{FF2B5EF4-FFF2-40B4-BE49-F238E27FC236}">
                <a16:creationId xmlns:a16="http://schemas.microsoft.com/office/drawing/2014/main" id="{4A6E700B-833D-C252-2EC7-5EAF4184A1C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745BD5A-DD62-362D-02D6-E8641867F408}"/>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3028969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F84DC6-E825-C9EB-F01B-09B777212A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9E1A39-34EB-5C90-88BB-ED70B490C8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527E93-DD25-49FA-EA20-ACCC0C4B8DE9}"/>
              </a:ext>
            </a:extLst>
          </p:cNvPr>
          <p:cNvSpPr>
            <a:spLocks noGrp="1"/>
          </p:cNvSpPr>
          <p:nvPr>
            <p:ph type="dt" sz="half" idx="10"/>
          </p:nvPr>
        </p:nvSpPr>
        <p:spPr/>
        <p:txBody>
          <a:bodyPr/>
          <a:lstStyle/>
          <a:p>
            <a:fld id="{2971299F-B7BB-452C-A595-C258CCFC1EB2}" type="datetimeFigureOut">
              <a:rPr lang="en-IN" smtClean="0"/>
              <a:t>10-04-2026</a:t>
            </a:fld>
            <a:endParaRPr lang="en-IN" dirty="0"/>
          </a:p>
        </p:txBody>
      </p:sp>
      <p:sp>
        <p:nvSpPr>
          <p:cNvPr id="5" name="Footer Placeholder 4">
            <a:extLst>
              <a:ext uri="{FF2B5EF4-FFF2-40B4-BE49-F238E27FC236}">
                <a16:creationId xmlns:a16="http://schemas.microsoft.com/office/drawing/2014/main" id="{E255E08C-EBF4-C043-D840-052A6CF64F5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9E97232-F8DE-7537-EE26-B3754CAE7B87}"/>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397197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1">
                <a:lumMod val="25000"/>
              </a:schemeClr>
            </a:gs>
            <a:gs pos="68000">
              <a:schemeClr val="tx2">
                <a:lumMod val="25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EDDA87-E036-397D-5ECE-6312E45819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4CF215-FA88-E821-3885-392B343171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CCF4E3-E77C-B9A0-3BBC-2CAEFB3495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71299F-B7BB-452C-A595-C258CCFC1EB2}" type="datetimeFigureOut">
              <a:rPr lang="en-IN" smtClean="0"/>
              <a:t>10-04-2026</a:t>
            </a:fld>
            <a:endParaRPr lang="en-IN" dirty="0"/>
          </a:p>
        </p:txBody>
      </p:sp>
      <p:sp>
        <p:nvSpPr>
          <p:cNvPr id="5" name="Footer Placeholder 4">
            <a:extLst>
              <a:ext uri="{FF2B5EF4-FFF2-40B4-BE49-F238E27FC236}">
                <a16:creationId xmlns:a16="http://schemas.microsoft.com/office/drawing/2014/main" id="{3BA512F1-9234-A97A-5464-0CD49AB935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2B04966-6F00-7217-BD34-581CBD3A06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E6F5A8-C6C9-4267-A052-BE4974E2D233}" type="slidenum">
              <a:rPr lang="en-IN" smtClean="0"/>
              <a:t>‹#›</a:t>
            </a:fld>
            <a:endParaRPr lang="en-IN" dirty="0"/>
          </a:p>
        </p:txBody>
      </p:sp>
    </p:spTree>
    <p:extLst>
      <p:ext uri="{BB962C8B-B14F-4D97-AF65-F5344CB8AC3E}">
        <p14:creationId xmlns:p14="http://schemas.microsoft.com/office/powerpoint/2010/main" val="2492651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A713-65A4-D049-B07E-0D3B3B72072D}"/>
            </a:ext>
          </a:extLst>
        </p:cNvPr>
        <p:cNvGrpSpPr/>
        <p:nvPr/>
      </p:nvGrpSpPr>
      <p:grpSpPr>
        <a:xfrm>
          <a:off x="0" y="0"/>
          <a:ext cx="0" cy="0"/>
          <a:chOff x="0" y="0"/>
          <a:chExt cx="0" cy="0"/>
        </a:xfrm>
      </p:grpSpPr>
      <p:pic>
        <p:nvPicPr>
          <p:cNvPr id="6146" name="Picture 2" descr="MSBTE Exam APK for Android Download">
            <a:extLst>
              <a:ext uri="{FF2B5EF4-FFF2-40B4-BE49-F238E27FC236}">
                <a16:creationId xmlns:a16="http://schemas.microsoft.com/office/drawing/2014/main" id="{9F8DDFDA-1BE6-C7C3-B6CE-0F0559B3E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9279" y="90468"/>
            <a:ext cx="1373441" cy="13734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2389C36-47AD-80CC-1D54-128E944DE812}"/>
              </a:ext>
            </a:extLst>
          </p:cNvPr>
          <p:cNvSpPr txBox="1"/>
          <p:nvPr/>
        </p:nvSpPr>
        <p:spPr>
          <a:xfrm>
            <a:off x="1634835" y="1477054"/>
            <a:ext cx="8922329" cy="489607"/>
          </a:xfrm>
          <a:prstGeom prst="rect">
            <a:avLst/>
          </a:prstGeom>
          <a:noFill/>
        </p:spPr>
        <p:txBody>
          <a:bodyPr wrap="square">
            <a:spAutoFit/>
          </a:bodyPr>
          <a:lstStyle/>
          <a:p>
            <a:pPr algn="ctr"/>
            <a:r>
              <a:rPr lang="en-US" sz="2800" dirty="0">
                <a:solidFill>
                  <a:schemeClr val="bg1"/>
                </a:solidFill>
              </a:rPr>
              <a:t>MAHARASHTRA STATE BOARD OF TECHNICAL EDUCATION  </a:t>
            </a:r>
            <a:endParaRPr lang="en-IN" sz="2800" dirty="0">
              <a:solidFill>
                <a:schemeClr val="bg1"/>
              </a:solidFill>
            </a:endParaRPr>
          </a:p>
        </p:txBody>
      </p:sp>
      <p:sp>
        <p:nvSpPr>
          <p:cNvPr id="7" name="TextBox 6">
            <a:extLst>
              <a:ext uri="{FF2B5EF4-FFF2-40B4-BE49-F238E27FC236}">
                <a16:creationId xmlns:a16="http://schemas.microsoft.com/office/drawing/2014/main" id="{3B1F104A-D993-1D86-044C-64E25F9B6C74}"/>
              </a:ext>
            </a:extLst>
          </p:cNvPr>
          <p:cNvSpPr txBox="1"/>
          <p:nvPr/>
        </p:nvSpPr>
        <p:spPr>
          <a:xfrm>
            <a:off x="3562301" y="1933723"/>
            <a:ext cx="5067396" cy="489607"/>
          </a:xfrm>
          <a:prstGeom prst="rect">
            <a:avLst/>
          </a:prstGeom>
          <a:noFill/>
        </p:spPr>
        <p:txBody>
          <a:bodyPr wrap="square" rtlCol="0">
            <a:spAutoFit/>
          </a:bodyPr>
          <a:lstStyle/>
          <a:p>
            <a:pPr algn="ctr"/>
            <a:r>
              <a:rPr lang="en-IN" sz="2800" dirty="0">
                <a:solidFill>
                  <a:schemeClr val="bg1"/>
                </a:solidFill>
              </a:rPr>
              <a:t>GOVERN POLYTECHNIC, JINTUR </a:t>
            </a:r>
          </a:p>
        </p:txBody>
      </p:sp>
      <p:graphicFrame>
        <p:nvGraphicFramePr>
          <p:cNvPr id="9" name="Table 8">
            <a:extLst>
              <a:ext uri="{FF2B5EF4-FFF2-40B4-BE49-F238E27FC236}">
                <a16:creationId xmlns:a16="http://schemas.microsoft.com/office/drawing/2014/main" id="{A1C6BC14-7F3A-8146-F43E-8B7DC2795D06}"/>
              </a:ext>
            </a:extLst>
          </p:cNvPr>
          <p:cNvGraphicFramePr>
            <a:graphicFrameLocks noGrp="1"/>
          </p:cNvGraphicFramePr>
          <p:nvPr>
            <p:extLst>
              <p:ext uri="{D42A27DB-BD31-4B8C-83A1-F6EECF244321}">
                <p14:modId xmlns:p14="http://schemas.microsoft.com/office/powerpoint/2010/main" val="3733438075"/>
              </p:ext>
            </p:extLst>
          </p:nvPr>
        </p:nvGraphicFramePr>
        <p:xfrm>
          <a:off x="2401454" y="2633940"/>
          <a:ext cx="7389092" cy="1011381"/>
        </p:xfrm>
        <a:graphic>
          <a:graphicData uri="http://schemas.openxmlformats.org/drawingml/2006/table">
            <a:tbl>
              <a:tblPr firstRow="1" bandRow="1">
                <a:tableStyleId>{5C22544A-7EE6-4342-B048-85BDC9FD1C3A}</a:tableStyleId>
              </a:tblPr>
              <a:tblGrid>
                <a:gridCol w="1847273">
                  <a:extLst>
                    <a:ext uri="{9D8B030D-6E8A-4147-A177-3AD203B41FA5}">
                      <a16:colId xmlns:a16="http://schemas.microsoft.com/office/drawing/2014/main" val="2107357157"/>
                    </a:ext>
                  </a:extLst>
                </a:gridCol>
                <a:gridCol w="1847273">
                  <a:extLst>
                    <a:ext uri="{9D8B030D-6E8A-4147-A177-3AD203B41FA5}">
                      <a16:colId xmlns:a16="http://schemas.microsoft.com/office/drawing/2014/main" val="4145978512"/>
                    </a:ext>
                  </a:extLst>
                </a:gridCol>
                <a:gridCol w="1847273">
                  <a:extLst>
                    <a:ext uri="{9D8B030D-6E8A-4147-A177-3AD203B41FA5}">
                      <a16:colId xmlns:a16="http://schemas.microsoft.com/office/drawing/2014/main" val="1830306956"/>
                    </a:ext>
                  </a:extLst>
                </a:gridCol>
                <a:gridCol w="1847273">
                  <a:extLst>
                    <a:ext uri="{9D8B030D-6E8A-4147-A177-3AD203B41FA5}">
                      <a16:colId xmlns:a16="http://schemas.microsoft.com/office/drawing/2014/main" val="3358156408"/>
                    </a:ext>
                  </a:extLst>
                </a:gridCol>
              </a:tblGrid>
              <a:tr h="337127">
                <a:tc>
                  <a:txBody>
                    <a:bodyPr/>
                    <a:lstStyle/>
                    <a:p>
                      <a:r>
                        <a:rPr lang="en-IN" sz="1600" dirty="0">
                          <a:solidFill>
                            <a:schemeClr val="bg1"/>
                          </a:solidFill>
                        </a:rPr>
                        <a:t>Course :</a:t>
                      </a:r>
                    </a:p>
                  </a:txBody>
                  <a:tcPr marL="83127" marR="83127" marT="41564" marB="4156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b="0" dirty="0">
                          <a:solidFill>
                            <a:schemeClr val="bg1"/>
                          </a:solidFill>
                        </a:rPr>
                        <a:t>CO-6K</a:t>
                      </a:r>
                    </a:p>
                  </a:txBody>
                  <a:tcPr marL="83127" marR="83127"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dirty="0">
                          <a:solidFill>
                            <a:schemeClr val="bg1"/>
                          </a:solidFill>
                        </a:rPr>
                        <a:t>Academic Year :</a:t>
                      </a:r>
                    </a:p>
                  </a:txBody>
                  <a:tcPr marL="83127" marR="83127"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b="0" dirty="0">
                          <a:solidFill>
                            <a:schemeClr val="bg1"/>
                          </a:solidFill>
                        </a:rPr>
                        <a:t>2025-26</a:t>
                      </a:r>
                    </a:p>
                  </a:txBody>
                  <a:tcPr marL="83127" marR="83127" marT="41564" marB="4156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extLst>
                  <a:ext uri="{0D108BD9-81ED-4DB2-BD59-A6C34878D82A}">
                    <a16:rowId xmlns:a16="http://schemas.microsoft.com/office/drawing/2014/main" val="2803923275"/>
                  </a:ext>
                </a:extLst>
              </a:tr>
              <a:tr h="337127">
                <a:tc>
                  <a:txBody>
                    <a:bodyPr/>
                    <a:lstStyle/>
                    <a:p>
                      <a:r>
                        <a:rPr lang="en-IN" sz="1600" dirty="0">
                          <a:solidFill>
                            <a:schemeClr val="bg1"/>
                          </a:solidFill>
                        </a:rPr>
                        <a:t>Project Title :</a:t>
                      </a:r>
                    </a:p>
                  </a:txBody>
                  <a:tcPr marL="83127" marR="83127" marT="41564" marB="4156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gridSpan="3">
                  <a:txBody>
                    <a:bodyPr/>
                    <a:lstStyle/>
                    <a:p>
                      <a:r>
                        <a:rPr lang="hi-IN" sz="1600" b="0" dirty="0">
                          <a:solidFill>
                            <a:schemeClr val="bg1"/>
                          </a:solidFill>
                        </a:rPr>
                        <a:t>Smart Expense Tracker System </a:t>
                      </a:r>
                      <a:endParaRPr lang="en-IN" sz="1600" b="0" dirty="0">
                        <a:solidFill>
                          <a:schemeClr val="bg1"/>
                        </a:solidFill>
                      </a:endParaRPr>
                    </a:p>
                  </a:txBody>
                  <a:tcPr marL="83127" marR="83127" marT="41564" marB="4156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535286522"/>
                  </a:ext>
                </a:extLst>
              </a:tr>
              <a:tr h="337127">
                <a:tc>
                  <a:txBody>
                    <a:bodyPr/>
                    <a:lstStyle/>
                    <a:p>
                      <a:r>
                        <a:rPr lang="en-IN" sz="1600" dirty="0">
                          <a:solidFill>
                            <a:schemeClr val="bg1"/>
                          </a:solidFill>
                        </a:rPr>
                        <a:t>Project Guide :</a:t>
                      </a:r>
                    </a:p>
                  </a:txBody>
                  <a:tcPr marL="83127" marR="83127" marT="41564" marB="4156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hi-IN" sz="1600" b="0" dirty="0">
                          <a:solidFill>
                            <a:schemeClr val="bg1"/>
                          </a:solidFill>
                        </a:rPr>
                        <a:t>Mr. M.A.Zahed</a:t>
                      </a:r>
                      <a:endParaRPr lang="en-IN" sz="1600" b="0" dirty="0">
                        <a:solidFill>
                          <a:schemeClr val="bg1"/>
                        </a:solidFill>
                      </a:endParaRPr>
                    </a:p>
                  </a:txBody>
                  <a:tcPr marL="83127" marR="83127"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endParaRPr lang="en-IN" sz="1600" dirty="0">
                        <a:solidFill>
                          <a:schemeClr val="bg1"/>
                        </a:solidFill>
                      </a:endParaRPr>
                    </a:p>
                  </a:txBody>
                  <a:tcPr marL="83127" marR="83127"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endParaRPr lang="en-IN" sz="1600" dirty="0">
                        <a:solidFill>
                          <a:schemeClr val="bg1"/>
                        </a:solidFill>
                      </a:endParaRPr>
                    </a:p>
                  </a:txBody>
                  <a:tcPr marL="83127" marR="83127" marT="41564" marB="4156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extLst>
                  <a:ext uri="{0D108BD9-81ED-4DB2-BD59-A6C34878D82A}">
                    <a16:rowId xmlns:a16="http://schemas.microsoft.com/office/drawing/2014/main" val="2528685328"/>
                  </a:ext>
                </a:extLst>
              </a:tr>
            </a:tbl>
          </a:graphicData>
        </a:graphic>
      </p:graphicFrame>
      <p:graphicFrame>
        <p:nvGraphicFramePr>
          <p:cNvPr id="10" name="Table 9">
            <a:extLst>
              <a:ext uri="{FF2B5EF4-FFF2-40B4-BE49-F238E27FC236}">
                <a16:creationId xmlns:a16="http://schemas.microsoft.com/office/drawing/2014/main" id="{1E348595-160E-D9DF-A246-1072359A2ADB}"/>
              </a:ext>
            </a:extLst>
          </p:cNvPr>
          <p:cNvGraphicFramePr>
            <a:graphicFrameLocks noGrp="1"/>
          </p:cNvGraphicFramePr>
          <p:nvPr>
            <p:extLst>
              <p:ext uri="{D42A27DB-BD31-4B8C-83A1-F6EECF244321}">
                <p14:modId xmlns:p14="http://schemas.microsoft.com/office/powerpoint/2010/main" val="1460426617"/>
              </p:ext>
            </p:extLst>
          </p:nvPr>
        </p:nvGraphicFramePr>
        <p:xfrm>
          <a:off x="2401454" y="4312600"/>
          <a:ext cx="7389090" cy="1597050"/>
        </p:xfrm>
        <a:graphic>
          <a:graphicData uri="http://schemas.openxmlformats.org/drawingml/2006/table">
            <a:tbl>
              <a:tblPr firstRow="1" bandRow="1">
                <a:tableStyleId>{5C22544A-7EE6-4342-B048-85BDC9FD1C3A}</a:tableStyleId>
              </a:tblPr>
              <a:tblGrid>
                <a:gridCol w="1032368">
                  <a:extLst>
                    <a:ext uri="{9D8B030D-6E8A-4147-A177-3AD203B41FA5}">
                      <a16:colId xmlns:a16="http://schemas.microsoft.com/office/drawing/2014/main" val="2128193335"/>
                    </a:ext>
                  </a:extLst>
                </a:gridCol>
                <a:gridCol w="3893692">
                  <a:extLst>
                    <a:ext uri="{9D8B030D-6E8A-4147-A177-3AD203B41FA5}">
                      <a16:colId xmlns:a16="http://schemas.microsoft.com/office/drawing/2014/main" val="3333589390"/>
                    </a:ext>
                  </a:extLst>
                </a:gridCol>
                <a:gridCol w="2463030">
                  <a:extLst>
                    <a:ext uri="{9D8B030D-6E8A-4147-A177-3AD203B41FA5}">
                      <a16:colId xmlns:a16="http://schemas.microsoft.com/office/drawing/2014/main" val="2504527129"/>
                    </a:ext>
                  </a:extLst>
                </a:gridCol>
              </a:tblGrid>
              <a:tr h="306479">
                <a:tc>
                  <a:txBody>
                    <a:bodyPr/>
                    <a:lstStyle/>
                    <a:p>
                      <a:r>
                        <a:rPr lang="en-IN" sz="1600" dirty="0">
                          <a:solidFill>
                            <a:schemeClr val="bg1"/>
                          </a:solidFill>
                        </a:rPr>
                        <a:t>SR. NO.</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dirty="0">
                          <a:solidFill>
                            <a:schemeClr val="bg1"/>
                          </a:solidFill>
                        </a:rPr>
                        <a:t>NAME</a:t>
                      </a: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dirty="0">
                          <a:solidFill>
                            <a:schemeClr val="bg1"/>
                          </a:solidFill>
                        </a:rPr>
                        <a:t>ROLL NO.</a:t>
                      </a: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extLst>
                  <a:ext uri="{0D108BD9-81ED-4DB2-BD59-A6C34878D82A}">
                    <a16:rowId xmlns:a16="http://schemas.microsoft.com/office/drawing/2014/main" val="1741526746"/>
                  </a:ext>
                </a:extLst>
              </a:tr>
              <a:tr h="306479">
                <a:tc>
                  <a:txBody>
                    <a:bodyPr/>
                    <a:lstStyle/>
                    <a:p>
                      <a:r>
                        <a:rPr lang="en-IN" sz="1600" dirty="0">
                          <a:solidFill>
                            <a:schemeClr val="bg1"/>
                          </a:solidFill>
                        </a:rPr>
                        <a:t>1</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AM</a:t>
                      </a:r>
                      <a:r>
                        <a:rPr lang="en-GB" sz="1600" dirty="0">
                          <a:solidFill>
                            <a:schemeClr val="bg1"/>
                          </a:solidFill>
                        </a:rPr>
                        <a:t>R</a:t>
                      </a:r>
                      <a:r>
                        <a:rPr lang="hi-IN" sz="1600" dirty="0">
                          <a:solidFill>
                            <a:schemeClr val="bg1"/>
                          </a:solidFill>
                        </a:rPr>
                        <a:t>APALI GOVIND ADHAV</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304</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6987708"/>
                  </a:ext>
                </a:extLst>
              </a:tr>
              <a:tr h="306479">
                <a:tc>
                  <a:txBody>
                    <a:bodyPr/>
                    <a:lstStyle/>
                    <a:p>
                      <a:r>
                        <a:rPr lang="en-IN" sz="1600" dirty="0">
                          <a:solidFill>
                            <a:schemeClr val="bg1"/>
                          </a:solidFill>
                        </a:rPr>
                        <a:t>2</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SHRUTI RAJKUMAR GAIKWAD </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316</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9646962"/>
                  </a:ext>
                </a:extLst>
              </a:tr>
              <a:tr h="306479">
                <a:tc>
                  <a:txBody>
                    <a:bodyPr/>
                    <a:lstStyle/>
                    <a:p>
                      <a:r>
                        <a:rPr lang="en-IN" sz="1600" dirty="0">
                          <a:solidFill>
                            <a:schemeClr val="bg1"/>
                          </a:solidFill>
                        </a:rPr>
                        <a:t>3</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NANDINI TUKARAM JADHAV </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320</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0459351"/>
                  </a:ext>
                </a:extLst>
              </a:tr>
              <a:tr h="306479">
                <a:tc>
                  <a:txBody>
                    <a:bodyPr/>
                    <a:lstStyle/>
                    <a:p>
                      <a:r>
                        <a:rPr lang="en-IN" sz="1600" dirty="0">
                          <a:solidFill>
                            <a:schemeClr val="bg1"/>
                          </a:solidFill>
                        </a:rPr>
                        <a:t>4</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ANJALI HANUMAN SATPUTE </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341</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4128487"/>
                  </a:ext>
                </a:extLst>
              </a:tr>
            </a:tbl>
          </a:graphicData>
        </a:graphic>
      </p:graphicFrame>
    </p:spTree>
    <p:extLst>
      <p:ext uri="{BB962C8B-B14F-4D97-AF65-F5344CB8AC3E}">
        <p14:creationId xmlns:p14="http://schemas.microsoft.com/office/powerpoint/2010/main" val="4149787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E67E1-36EA-4042-1E5A-EF74A40B8AB8}"/>
            </a:ext>
          </a:extLst>
        </p:cNvPr>
        <p:cNvGrpSpPr/>
        <p:nvPr/>
      </p:nvGrpSpPr>
      <p:grpSpPr>
        <a:xfrm>
          <a:off x="0" y="0"/>
          <a:ext cx="0" cy="0"/>
          <a:chOff x="0" y="0"/>
          <a:chExt cx="0" cy="0"/>
        </a:xfrm>
      </p:grpSpPr>
      <p:sp>
        <p:nvSpPr>
          <p:cNvPr id="124" name="Rectangle: Rounded Corners 123">
            <a:extLst>
              <a:ext uri="{FF2B5EF4-FFF2-40B4-BE49-F238E27FC236}">
                <a16:creationId xmlns:a16="http://schemas.microsoft.com/office/drawing/2014/main" id="{23F80CB0-1B88-4EBD-CC60-A9707DA838D2}"/>
              </a:ext>
            </a:extLst>
          </p:cNvPr>
          <p:cNvSpPr/>
          <p:nvPr/>
        </p:nvSpPr>
        <p:spPr>
          <a:xfrm>
            <a:off x="1105415" y="4533112"/>
            <a:ext cx="3920401" cy="1080369"/>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200" dirty="0">
                <a:solidFill>
                  <a:schemeClr val="bg1"/>
                </a:solidFill>
              </a:rPr>
              <a:t>The Smart Expense Tracker System is an application used to manage and track daily expenses. It helps users categorize spending, set budgets, and get insights into financial habits. It improves financial planning and reduces manual effort.</a:t>
            </a:r>
            <a:endParaRPr lang="en-IN" sz="1200" dirty="0">
              <a:solidFill>
                <a:schemeClr val="bg1"/>
              </a:solidFill>
            </a:endParaRPr>
          </a:p>
        </p:txBody>
      </p:sp>
      <p:grpSp>
        <p:nvGrpSpPr>
          <p:cNvPr id="146" name="Group 145">
            <a:extLst>
              <a:ext uri="{FF2B5EF4-FFF2-40B4-BE49-F238E27FC236}">
                <a16:creationId xmlns:a16="http://schemas.microsoft.com/office/drawing/2014/main" id="{C544BCD7-9B61-F5CB-3258-D92ACFD289F3}"/>
              </a:ext>
            </a:extLst>
          </p:cNvPr>
          <p:cNvGrpSpPr/>
          <p:nvPr/>
        </p:nvGrpSpPr>
        <p:grpSpPr>
          <a:xfrm>
            <a:off x="1720684" y="3658121"/>
            <a:ext cx="2689864" cy="475200"/>
            <a:chOff x="7482840" y="1796525"/>
            <a:chExt cx="2689864" cy="475200"/>
          </a:xfrm>
        </p:grpSpPr>
        <p:sp>
          <p:nvSpPr>
            <p:cNvPr id="123" name="Rectangle: Rounded Corners 122">
              <a:extLst>
                <a:ext uri="{FF2B5EF4-FFF2-40B4-BE49-F238E27FC236}">
                  <a16:creationId xmlns:a16="http://schemas.microsoft.com/office/drawing/2014/main" id="{5DE2F360-D013-DBA3-F148-AFAB2453C415}"/>
                </a:ext>
              </a:extLst>
            </p:cNvPr>
            <p:cNvSpPr/>
            <p:nvPr/>
          </p:nvSpPr>
          <p:spPr>
            <a:xfrm>
              <a:off x="7482840" y="1796525"/>
              <a:ext cx="2689864"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2000" dirty="0"/>
                <a:t>Definition </a:t>
              </a:r>
              <a:endParaRPr lang="en-IN" sz="2000" dirty="0"/>
            </a:p>
          </p:txBody>
        </p:sp>
        <p:pic>
          <p:nvPicPr>
            <p:cNvPr id="143" name="Graphic 142" descr="Warning with solid fill">
              <a:extLst>
                <a:ext uri="{FF2B5EF4-FFF2-40B4-BE49-F238E27FC236}">
                  <a16:creationId xmlns:a16="http://schemas.microsoft.com/office/drawing/2014/main" id="{DCE91247-5CDD-0DB9-0D22-86A123527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18887" y="1840228"/>
              <a:ext cx="387795" cy="387795"/>
            </a:xfrm>
            <a:prstGeom prst="rect">
              <a:avLst/>
            </a:prstGeom>
          </p:spPr>
        </p:pic>
      </p:grpSp>
      <p:grpSp>
        <p:nvGrpSpPr>
          <p:cNvPr id="153" name="Group 152">
            <a:extLst>
              <a:ext uri="{FF2B5EF4-FFF2-40B4-BE49-F238E27FC236}">
                <a16:creationId xmlns:a16="http://schemas.microsoft.com/office/drawing/2014/main" id="{FEB1A96E-08BF-174F-D760-F678E7B1C453}"/>
              </a:ext>
            </a:extLst>
          </p:cNvPr>
          <p:cNvGrpSpPr/>
          <p:nvPr/>
        </p:nvGrpSpPr>
        <p:grpSpPr>
          <a:xfrm>
            <a:off x="7781453" y="3659909"/>
            <a:ext cx="1871382" cy="475200"/>
            <a:chOff x="8021922" y="4310701"/>
            <a:chExt cx="1871382" cy="475200"/>
          </a:xfrm>
        </p:grpSpPr>
        <p:sp>
          <p:nvSpPr>
            <p:cNvPr id="152" name="Rectangle: Rounded Corners 151">
              <a:extLst>
                <a:ext uri="{FF2B5EF4-FFF2-40B4-BE49-F238E27FC236}">
                  <a16:creationId xmlns:a16="http://schemas.microsoft.com/office/drawing/2014/main" id="{589C2E7B-5F73-3A11-38B2-0D8AF6D1669E}"/>
                </a:ext>
              </a:extLst>
            </p:cNvPr>
            <p:cNvSpPr/>
            <p:nvPr/>
          </p:nvSpPr>
          <p:spPr>
            <a:xfrm>
              <a:off x="8021922" y="4310701"/>
              <a:ext cx="1871382"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2000" dirty="0"/>
                <a:t>Objectives</a:t>
              </a:r>
            </a:p>
          </p:txBody>
        </p:sp>
        <p:pic>
          <p:nvPicPr>
            <p:cNvPr id="151" name="Graphic 150" descr="Bullseye with solid fill">
              <a:extLst>
                <a:ext uri="{FF2B5EF4-FFF2-40B4-BE49-F238E27FC236}">
                  <a16:creationId xmlns:a16="http://schemas.microsoft.com/office/drawing/2014/main" id="{122403CB-4028-C4E7-D319-C603E543FA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66537" y="4354404"/>
              <a:ext cx="387795" cy="387795"/>
            </a:xfrm>
            <a:prstGeom prst="rect">
              <a:avLst/>
            </a:prstGeom>
          </p:spPr>
        </p:pic>
      </p:grpSp>
      <p:grpSp>
        <p:nvGrpSpPr>
          <p:cNvPr id="158" name="Group 157">
            <a:extLst>
              <a:ext uri="{FF2B5EF4-FFF2-40B4-BE49-F238E27FC236}">
                <a16:creationId xmlns:a16="http://schemas.microsoft.com/office/drawing/2014/main" id="{64756623-C95D-4033-B2DD-AF7572530DD4}"/>
              </a:ext>
            </a:extLst>
          </p:cNvPr>
          <p:cNvGrpSpPr/>
          <p:nvPr/>
        </p:nvGrpSpPr>
        <p:grpSpPr>
          <a:xfrm>
            <a:off x="6756944" y="4533112"/>
            <a:ext cx="3920401" cy="1702346"/>
            <a:chOff x="6206336" y="4511687"/>
            <a:chExt cx="3920401" cy="1702346"/>
          </a:xfrm>
        </p:grpSpPr>
        <p:sp>
          <p:nvSpPr>
            <p:cNvPr id="154" name="Rectangle: Rounded Corners 153">
              <a:extLst>
                <a:ext uri="{FF2B5EF4-FFF2-40B4-BE49-F238E27FC236}">
                  <a16:creationId xmlns:a16="http://schemas.microsoft.com/office/drawing/2014/main" id="{3AC51F81-18F5-86AA-E94A-90A35D665E31}"/>
                </a:ext>
              </a:extLst>
            </p:cNvPr>
            <p:cNvSpPr/>
            <p:nvPr/>
          </p:nvSpPr>
          <p:spPr>
            <a:xfrm>
              <a:off x="6206336" y="4511687"/>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200" dirty="0">
                  <a:solidFill>
                    <a:schemeClr val="bg1"/>
                  </a:solidFill>
                </a:rPr>
                <a:t>To develop a simple and user-friendly application for tracking, categorizing expenses, and managing budgets with real-time insights.</a:t>
              </a:r>
              <a:endParaRPr lang="en-IN" sz="1200" dirty="0">
                <a:solidFill>
                  <a:schemeClr val="bg1"/>
                </a:solidFill>
              </a:endParaRPr>
            </a:p>
          </p:txBody>
        </p:sp>
        <p:sp>
          <p:nvSpPr>
            <p:cNvPr id="156" name="Rectangle: Rounded Corners 155">
              <a:extLst>
                <a:ext uri="{FF2B5EF4-FFF2-40B4-BE49-F238E27FC236}">
                  <a16:creationId xmlns:a16="http://schemas.microsoft.com/office/drawing/2014/main" id="{8FA162DB-598E-2F07-48ED-65BB44557AC7}"/>
                </a:ext>
              </a:extLst>
            </p:cNvPr>
            <p:cNvSpPr/>
            <p:nvPr/>
          </p:nvSpPr>
          <p:spPr>
            <a:xfrm>
              <a:off x="6206336" y="5476127"/>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200" dirty="0">
                  <a:solidFill>
                    <a:schemeClr val="bg1"/>
                  </a:solidFill>
                </a:rPr>
                <a:t>To ensure secure, accessible financial management while helping users analyze data and achieve their financial goals.</a:t>
              </a:r>
              <a:endParaRPr lang="en-IN" sz="1200" dirty="0">
                <a:solidFill>
                  <a:schemeClr val="bg1"/>
                </a:solidFill>
              </a:endParaRPr>
            </a:p>
          </p:txBody>
        </p:sp>
      </p:grpSp>
      <p:sp>
        <p:nvSpPr>
          <p:cNvPr id="2" name="Flowchart: Terminator 1">
            <a:extLst>
              <a:ext uri="{FF2B5EF4-FFF2-40B4-BE49-F238E27FC236}">
                <a16:creationId xmlns:a16="http://schemas.microsoft.com/office/drawing/2014/main" id="{D9C9992E-B65F-0BFB-7828-D76A78F7E6E7}"/>
              </a:ext>
            </a:extLst>
          </p:cNvPr>
          <p:cNvSpPr/>
          <p:nvPr/>
        </p:nvSpPr>
        <p:spPr>
          <a:xfrm rot="10800000" flipV="1">
            <a:off x="4410548" y="190498"/>
            <a:ext cx="2515791" cy="523876"/>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2000" dirty="0"/>
              <a:t>🎯Background</a:t>
            </a:r>
            <a:r>
              <a:rPr lang="hi-IN" dirty="0"/>
              <a:t> </a:t>
            </a:r>
            <a:endParaRPr lang="en-US" dirty="0"/>
          </a:p>
        </p:txBody>
      </p:sp>
      <p:sp>
        <p:nvSpPr>
          <p:cNvPr id="3" name="Flowchart: Terminator 2">
            <a:extLst>
              <a:ext uri="{FF2B5EF4-FFF2-40B4-BE49-F238E27FC236}">
                <a16:creationId xmlns:a16="http://schemas.microsoft.com/office/drawing/2014/main" id="{3F2EEBB8-E115-FFDA-84CD-4A0770AF2803}"/>
              </a:ext>
            </a:extLst>
          </p:cNvPr>
          <p:cNvSpPr/>
          <p:nvPr/>
        </p:nvSpPr>
        <p:spPr>
          <a:xfrm>
            <a:off x="2994178" y="1102197"/>
            <a:ext cx="5248248" cy="1521546"/>
          </a:xfrm>
          <a:prstGeom prst="flowChartTerminator">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200" dirty="0"/>
              <a:t>In modern life, managing daily expenses has become difficult due to increasing transactions and complex financial activities, while traditional methods like manual records are time-consuming and error-prone.
Therefore, a smart and user-friendly digital solution is needed to simplify expense tracking and improve financial planning, which is achieved through the Smart Expense Tracker System.</a:t>
            </a:r>
            <a:endParaRPr lang="en-US" sz="1200" dirty="0"/>
          </a:p>
        </p:txBody>
      </p:sp>
    </p:spTree>
    <p:extLst>
      <p:ext uri="{BB962C8B-B14F-4D97-AF65-F5344CB8AC3E}">
        <p14:creationId xmlns:p14="http://schemas.microsoft.com/office/powerpoint/2010/main" val="2982718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EA51A-FDFD-5955-98DE-D1124DBEB61A}"/>
            </a:ext>
          </a:extLst>
        </p:cNvPr>
        <p:cNvGrpSpPr/>
        <p:nvPr/>
      </p:nvGrpSpPr>
      <p:grpSpPr>
        <a:xfrm>
          <a:off x="0" y="0"/>
          <a:ext cx="0" cy="0"/>
          <a:chOff x="0" y="0"/>
          <a:chExt cx="0" cy="0"/>
        </a:xfrm>
      </p:grpSpPr>
      <p:grpSp>
        <p:nvGrpSpPr>
          <p:cNvPr id="74" name="Group 73">
            <a:extLst>
              <a:ext uri="{FF2B5EF4-FFF2-40B4-BE49-F238E27FC236}">
                <a16:creationId xmlns:a16="http://schemas.microsoft.com/office/drawing/2014/main" id="{B012944A-C959-7945-3321-25D112B3994D}"/>
              </a:ext>
            </a:extLst>
          </p:cNvPr>
          <p:cNvGrpSpPr/>
          <p:nvPr/>
        </p:nvGrpSpPr>
        <p:grpSpPr>
          <a:xfrm>
            <a:off x="4424365" y="252576"/>
            <a:ext cx="4267173" cy="650621"/>
            <a:chOff x="4846020" y="550244"/>
            <a:chExt cx="2499960" cy="475200"/>
          </a:xfrm>
        </p:grpSpPr>
        <p:sp>
          <p:nvSpPr>
            <p:cNvPr id="5" name="Rectangle: Rounded Corners 4">
              <a:extLst>
                <a:ext uri="{FF2B5EF4-FFF2-40B4-BE49-F238E27FC236}">
                  <a16:creationId xmlns:a16="http://schemas.microsoft.com/office/drawing/2014/main" id="{0DA119F2-C228-D6FB-881D-124C6795658A}"/>
                </a:ext>
              </a:extLst>
            </p:cNvPr>
            <p:cNvSpPr/>
            <p:nvPr/>
          </p:nvSpPr>
          <p:spPr>
            <a:xfrm>
              <a:off x="4846020" y="550244"/>
              <a:ext cx="2499960"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hi-IN" sz="2200" dirty="0"/>
                <a:t>Design and architecture </a:t>
              </a:r>
              <a:endParaRPr lang="en-IN" sz="2200" dirty="0"/>
            </a:p>
          </p:txBody>
        </p:sp>
        <p:pic>
          <p:nvPicPr>
            <p:cNvPr id="31" name="Graphic 30" descr="Computer with solid fill">
              <a:extLst>
                <a:ext uri="{FF2B5EF4-FFF2-40B4-BE49-F238E27FC236}">
                  <a16:creationId xmlns:a16="http://schemas.microsoft.com/office/drawing/2014/main" id="{B55F7176-74F8-0FC6-28BA-09920E8533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8323" y="571573"/>
              <a:ext cx="426575" cy="426575"/>
            </a:xfrm>
            <a:prstGeom prst="rect">
              <a:avLst/>
            </a:prstGeom>
          </p:spPr>
        </p:pic>
      </p:grpSp>
      <p:pic>
        <p:nvPicPr>
          <p:cNvPr id="2" name="Picture 1">
            <a:extLst>
              <a:ext uri="{FF2B5EF4-FFF2-40B4-BE49-F238E27FC236}">
                <a16:creationId xmlns:a16="http://schemas.microsoft.com/office/drawing/2014/main" id="{EA1A9E44-D9F1-D14C-DA86-8DFEDDBCFF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1925" y="2426684"/>
            <a:ext cx="3219076" cy="4178739"/>
          </a:xfrm>
          <a:prstGeom prst="rect">
            <a:avLst/>
          </a:prstGeom>
        </p:spPr>
      </p:pic>
      <p:pic>
        <p:nvPicPr>
          <p:cNvPr id="4" name="Picture 3">
            <a:extLst>
              <a:ext uri="{FF2B5EF4-FFF2-40B4-BE49-F238E27FC236}">
                <a16:creationId xmlns:a16="http://schemas.microsoft.com/office/drawing/2014/main" id="{1EC43B17-33BD-9CA5-4677-3D95AD1C31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9989" y="2426685"/>
            <a:ext cx="3219076" cy="4178739"/>
          </a:xfrm>
          <a:prstGeom prst="rect">
            <a:avLst/>
          </a:prstGeom>
        </p:spPr>
      </p:pic>
      <p:sp>
        <p:nvSpPr>
          <p:cNvPr id="6" name="Flowchart: Terminator 5">
            <a:extLst>
              <a:ext uri="{FF2B5EF4-FFF2-40B4-BE49-F238E27FC236}">
                <a16:creationId xmlns:a16="http://schemas.microsoft.com/office/drawing/2014/main" id="{DF5DDEB5-8BBF-0BB0-A972-E346C4F4040C}"/>
              </a:ext>
            </a:extLst>
          </p:cNvPr>
          <p:cNvSpPr/>
          <p:nvPr/>
        </p:nvSpPr>
        <p:spPr>
          <a:xfrm rot="10800000" flipV="1">
            <a:off x="204788" y="1378934"/>
            <a:ext cx="3093244" cy="700563"/>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2000" b="1" dirty="0"/>
              <a:t>System Design </a:t>
            </a:r>
            <a:endParaRPr lang="en-US" sz="2000" b="1" dirty="0"/>
          </a:p>
        </p:txBody>
      </p:sp>
      <p:sp>
        <p:nvSpPr>
          <p:cNvPr id="7" name="Flowchart: Terminator 6">
            <a:extLst>
              <a:ext uri="{FF2B5EF4-FFF2-40B4-BE49-F238E27FC236}">
                <a16:creationId xmlns:a16="http://schemas.microsoft.com/office/drawing/2014/main" id="{86B75A1C-CCD6-3B02-35D7-F5240A0E15D4}"/>
              </a:ext>
            </a:extLst>
          </p:cNvPr>
          <p:cNvSpPr/>
          <p:nvPr/>
        </p:nvSpPr>
        <p:spPr>
          <a:xfrm>
            <a:off x="8591925" y="1403905"/>
            <a:ext cx="3219076" cy="650621"/>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2000" b="1" dirty="0"/>
              <a:t>System Architecture </a:t>
            </a:r>
            <a:endParaRPr lang="en-US" sz="2000" b="1" dirty="0"/>
          </a:p>
        </p:txBody>
      </p:sp>
      <p:sp>
        <p:nvSpPr>
          <p:cNvPr id="8" name="Flow Chart: Alternative Process 7">
            <a:extLst>
              <a:ext uri="{FF2B5EF4-FFF2-40B4-BE49-F238E27FC236}">
                <a16:creationId xmlns:a16="http://schemas.microsoft.com/office/drawing/2014/main" id="{B2CB90CD-037D-9559-6AE8-099DF11CCCE3}"/>
              </a:ext>
            </a:extLst>
          </p:cNvPr>
          <p:cNvSpPr/>
          <p:nvPr/>
        </p:nvSpPr>
        <p:spPr>
          <a:xfrm>
            <a:off x="3791324" y="2816352"/>
            <a:ext cx="2727348" cy="1404414"/>
          </a:xfrm>
          <a:prstGeom prst="flowChartAlternateProcess">
            <a:avLst/>
          </a:prstGeom>
          <a:solidFill>
            <a:srgbClr val="42516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hi-IN" sz="1400" dirty="0"/>
              <a:t>This diagram explains how the system works step by step. First, the user enters data, then the system processes and stores it, and finally shows reports for better understanding.</a:t>
            </a:r>
            <a:endParaRPr lang="en-US" sz="1400" dirty="0"/>
          </a:p>
        </p:txBody>
      </p:sp>
      <p:sp>
        <p:nvSpPr>
          <p:cNvPr id="9" name="Flow Chart: Alternative Process 8">
            <a:extLst>
              <a:ext uri="{FF2B5EF4-FFF2-40B4-BE49-F238E27FC236}">
                <a16:creationId xmlns:a16="http://schemas.microsoft.com/office/drawing/2014/main" id="{2CEA9CBF-AEC6-790F-CE5C-F446EFD2B0D3}"/>
              </a:ext>
            </a:extLst>
          </p:cNvPr>
          <p:cNvSpPr/>
          <p:nvPr/>
        </p:nvSpPr>
        <p:spPr>
          <a:xfrm>
            <a:off x="5828109" y="4714876"/>
            <a:ext cx="2604967" cy="1470422"/>
          </a:xfrm>
          <a:prstGeom prst="flowChartAlternateProcess">
            <a:avLst/>
          </a:prstGeom>
          <a:solidFill>
            <a:srgbClr val="333F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400" dirty="0"/>
              <a:t>This diagram shows how the system is built. The user interacts with the frontend, the backend processes data, and the database stores it securely.</a:t>
            </a:r>
            <a:endParaRPr lang="en-US" sz="1400" dirty="0"/>
          </a:p>
        </p:txBody>
      </p:sp>
      <p:cxnSp>
        <p:nvCxnSpPr>
          <p:cNvPr id="30" name="Connector: Curved 29">
            <a:extLst>
              <a:ext uri="{FF2B5EF4-FFF2-40B4-BE49-F238E27FC236}">
                <a16:creationId xmlns:a16="http://schemas.microsoft.com/office/drawing/2014/main" id="{CFF41761-A79C-EDB4-BD17-BD86C51E31CE}"/>
              </a:ext>
            </a:extLst>
          </p:cNvPr>
          <p:cNvCxnSpPr>
            <a:cxnSpLocks/>
          </p:cNvCxnSpPr>
          <p:nvPr/>
        </p:nvCxnSpPr>
        <p:spPr>
          <a:xfrm>
            <a:off x="2833688" y="1625602"/>
            <a:ext cx="1845468" cy="1153378"/>
          </a:xfrm>
          <a:prstGeom prst="curvedConnector3">
            <a:avLst>
              <a:gd name="adj1" fmla="val 50000"/>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Curved 76">
            <a:extLst>
              <a:ext uri="{FF2B5EF4-FFF2-40B4-BE49-F238E27FC236}">
                <a16:creationId xmlns:a16="http://schemas.microsoft.com/office/drawing/2014/main" id="{0E674F07-E0E9-8F97-CC5E-D71845083711}"/>
              </a:ext>
            </a:extLst>
          </p:cNvPr>
          <p:cNvCxnSpPr>
            <a:cxnSpLocks/>
            <a:stCxn id="7" idx="1"/>
            <a:endCxn id="9" idx="0"/>
          </p:cNvCxnSpPr>
          <p:nvPr/>
        </p:nvCxnSpPr>
        <p:spPr>
          <a:xfrm rot="10800000" flipV="1">
            <a:off x="7130593" y="1729216"/>
            <a:ext cx="1461332" cy="2985660"/>
          </a:xfrm>
          <a:prstGeom prst="curved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31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956A5-CC9B-7C6D-81B3-E5906322D03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2EC8544-6B1C-48AC-EBCB-9E795D44CB9C}"/>
              </a:ext>
            </a:extLst>
          </p:cNvPr>
          <p:cNvSpPr txBox="1"/>
          <p:nvPr/>
        </p:nvSpPr>
        <p:spPr>
          <a:xfrm rot="10800000" flipV="1">
            <a:off x="3559968" y="-30777"/>
            <a:ext cx="5072064" cy="461665"/>
          </a:xfrm>
          <a:prstGeom prst="rect">
            <a:avLst/>
          </a:prstGeom>
          <a:noFill/>
        </p:spPr>
        <p:txBody>
          <a:bodyPr wrap="square" rtlCol="0" anchor="ctr">
            <a:spAutoFit/>
          </a:bodyPr>
          <a:lstStyle/>
          <a:p>
            <a:pPr marL="342900" indent="-342900" algn="ctr">
              <a:buFont typeface="Arial" panose="020B0604020202020204" pitchFamily="34" charset="0"/>
              <a:buChar char="•"/>
            </a:pPr>
            <a:r>
              <a:rPr lang="en-GB" sz="2400" b="1" i="1" u="sng" dirty="0">
                <a:solidFill>
                  <a:schemeClr val="bg2"/>
                </a:solidFill>
              </a:rPr>
              <a:t>Smart Expense Tracker System </a:t>
            </a:r>
            <a:endParaRPr lang="en-US" sz="2400" b="1" i="1" u="sng" dirty="0">
              <a:solidFill>
                <a:schemeClr val="bg2"/>
              </a:solidFill>
            </a:endParaRPr>
          </a:p>
        </p:txBody>
      </p:sp>
      <p:pic>
        <p:nvPicPr>
          <p:cNvPr id="8" name="Picture 7">
            <a:extLst>
              <a:ext uri="{FF2B5EF4-FFF2-40B4-BE49-F238E27FC236}">
                <a16:creationId xmlns:a16="http://schemas.microsoft.com/office/drawing/2014/main" id="{128A6ABE-FF89-17B2-2F95-223E59C94C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531" y="1064947"/>
            <a:ext cx="4191000" cy="5418667"/>
          </a:xfrm>
          <a:prstGeom prst="rect">
            <a:avLst/>
          </a:prstGeom>
        </p:spPr>
      </p:pic>
      <p:sp>
        <p:nvSpPr>
          <p:cNvPr id="25" name="Flowchart: Terminator 24">
            <a:extLst>
              <a:ext uri="{FF2B5EF4-FFF2-40B4-BE49-F238E27FC236}">
                <a16:creationId xmlns:a16="http://schemas.microsoft.com/office/drawing/2014/main" id="{BF2553E0-28D4-871D-E2E4-288902F5E71E}"/>
              </a:ext>
            </a:extLst>
          </p:cNvPr>
          <p:cNvSpPr/>
          <p:nvPr/>
        </p:nvSpPr>
        <p:spPr>
          <a:xfrm flipH="1">
            <a:off x="4762500" y="1064947"/>
            <a:ext cx="7286625" cy="1035844"/>
          </a:xfrm>
          <a:prstGeom prst="flowChartTerminato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User Interface</a:t>
            </a:r>
            <a:r>
              <a:rPr lang="en-GB" dirty="0"/>
              <a:t>
User enters and views expense data through mobile or web app.</a:t>
            </a:r>
            <a:endParaRPr lang="en-US" dirty="0"/>
          </a:p>
        </p:txBody>
      </p:sp>
      <p:sp>
        <p:nvSpPr>
          <p:cNvPr id="31" name="Flowchart: Terminator 30">
            <a:extLst>
              <a:ext uri="{FF2B5EF4-FFF2-40B4-BE49-F238E27FC236}">
                <a16:creationId xmlns:a16="http://schemas.microsoft.com/office/drawing/2014/main" id="{EF6D5AB7-15E4-2077-489E-DA076CB74159}"/>
              </a:ext>
            </a:extLst>
          </p:cNvPr>
          <p:cNvSpPr/>
          <p:nvPr/>
        </p:nvSpPr>
        <p:spPr>
          <a:xfrm>
            <a:off x="4762499" y="2393156"/>
            <a:ext cx="7286625" cy="1035844"/>
          </a:xfrm>
          <a:prstGeom prst="flowChartTerminato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Processing System</a:t>
            </a:r>
            <a:r>
              <a:rPr lang="en-GB" dirty="0"/>
              <a:t>
Backend processes the expense details and manages operations.</a:t>
            </a:r>
            <a:endParaRPr lang="en-US" dirty="0"/>
          </a:p>
        </p:txBody>
      </p:sp>
      <p:sp>
        <p:nvSpPr>
          <p:cNvPr id="34" name="Flowchart: Terminator 33">
            <a:extLst>
              <a:ext uri="{FF2B5EF4-FFF2-40B4-BE49-F238E27FC236}">
                <a16:creationId xmlns:a16="http://schemas.microsoft.com/office/drawing/2014/main" id="{F5B8E473-9EA5-599B-8C0F-1063ACB6A34B}"/>
              </a:ext>
            </a:extLst>
          </p:cNvPr>
          <p:cNvSpPr/>
          <p:nvPr/>
        </p:nvSpPr>
        <p:spPr>
          <a:xfrm>
            <a:off x="4762499" y="3721365"/>
            <a:ext cx="7286625" cy="1035845"/>
          </a:xfrm>
          <a:prstGeom prst="flowChartTerminato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Database Storage</a:t>
            </a:r>
            <a:r>
              <a:rPr lang="en-GB" dirty="0"/>
              <a:t>
All expense records are stored securely in the database.</a:t>
            </a:r>
            <a:endParaRPr lang="en-US" dirty="0"/>
          </a:p>
        </p:txBody>
      </p:sp>
      <p:sp>
        <p:nvSpPr>
          <p:cNvPr id="44" name="Flowchart: Terminator 43">
            <a:extLst>
              <a:ext uri="{FF2B5EF4-FFF2-40B4-BE49-F238E27FC236}">
                <a16:creationId xmlns:a16="http://schemas.microsoft.com/office/drawing/2014/main" id="{364696F0-0BFA-4820-6D26-341B98EEE35F}"/>
              </a:ext>
            </a:extLst>
          </p:cNvPr>
          <p:cNvSpPr/>
          <p:nvPr/>
        </p:nvSpPr>
        <p:spPr>
          <a:xfrm>
            <a:off x="4762499" y="5049575"/>
            <a:ext cx="7286624" cy="1129769"/>
          </a:xfrm>
          <a:prstGeom prst="flowChartTerminato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       Reports &amp; Notifications </a:t>
            </a:r>
          </a:p>
          <a:p>
            <a:pPr algn="ctr"/>
            <a:r>
              <a:rPr lang="en-GB" dirty="0"/>
              <a:t>System generates reports and sends alerts for better expense management.</a:t>
            </a:r>
            <a:endParaRPr lang="en-US" dirty="0"/>
          </a:p>
        </p:txBody>
      </p:sp>
    </p:spTree>
    <p:extLst>
      <p:ext uri="{BB962C8B-B14F-4D97-AF65-F5344CB8AC3E}">
        <p14:creationId xmlns:p14="http://schemas.microsoft.com/office/powerpoint/2010/main" val="4161884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43A23-6FAD-72A4-D0E9-192ECFE3F133}"/>
            </a:ext>
          </a:extLst>
        </p:cNvPr>
        <p:cNvGrpSpPr/>
        <p:nvPr/>
      </p:nvGrpSpPr>
      <p:grpSpPr>
        <a:xfrm>
          <a:off x="0" y="0"/>
          <a:ext cx="0" cy="0"/>
          <a:chOff x="0" y="0"/>
          <a:chExt cx="0" cy="0"/>
        </a:xfrm>
      </p:grpSpPr>
      <p:sp>
        <p:nvSpPr>
          <p:cNvPr id="339" name="Rectangle: Rounded Corners 338">
            <a:extLst>
              <a:ext uri="{FF2B5EF4-FFF2-40B4-BE49-F238E27FC236}">
                <a16:creationId xmlns:a16="http://schemas.microsoft.com/office/drawing/2014/main" id="{4E50F7C9-7A1E-FADB-DD18-31D2BDA3E85B}"/>
              </a:ext>
            </a:extLst>
          </p:cNvPr>
          <p:cNvSpPr/>
          <p:nvPr/>
        </p:nvSpPr>
        <p:spPr>
          <a:xfrm>
            <a:off x="12291276" y="635310"/>
            <a:ext cx="4170949" cy="548159"/>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bg1"/>
                </a:solidFill>
              </a:rPr>
              <a:t>📌 Login Instructions </a:t>
            </a:r>
            <a:endParaRPr lang="en-IN" sz="1600" dirty="0">
              <a:solidFill>
                <a:schemeClr val="bg1"/>
              </a:solidFill>
            </a:endParaRPr>
          </a:p>
        </p:txBody>
      </p:sp>
      <p:sp>
        <p:nvSpPr>
          <p:cNvPr id="340" name="Rectangle: Rounded Corners 339">
            <a:extLst>
              <a:ext uri="{FF2B5EF4-FFF2-40B4-BE49-F238E27FC236}">
                <a16:creationId xmlns:a16="http://schemas.microsoft.com/office/drawing/2014/main" id="{D6D7202B-F43E-31B3-8769-DE8038B685DD}"/>
              </a:ext>
            </a:extLst>
          </p:cNvPr>
          <p:cNvSpPr/>
          <p:nvPr/>
        </p:nvSpPr>
        <p:spPr>
          <a:xfrm>
            <a:off x="12983784" y="1569848"/>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Open the College Portal website.</a:t>
            </a:r>
          </a:p>
        </p:txBody>
      </p:sp>
      <p:sp>
        <p:nvSpPr>
          <p:cNvPr id="341" name="Rectangle: Rounded Corners 340">
            <a:extLst>
              <a:ext uri="{FF2B5EF4-FFF2-40B4-BE49-F238E27FC236}">
                <a16:creationId xmlns:a16="http://schemas.microsoft.com/office/drawing/2014/main" id="{E4062755-6457-3601-0863-A5FD82851EEA}"/>
              </a:ext>
            </a:extLst>
          </p:cNvPr>
          <p:cNvSpPr/>
          <p:nvPr/>
        </p:nvSpPr>
        <p:spPr>
          <a:xfrm>
            <a:off x="13776264" y="2240289"/>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Click on the Login tab.</a:t>
            </a:r>
          </a:p>
        </p:txBody>
      </p:sp>
      <p:sp>
        <p:nvSpPr>
          <p:cNvPr id="342" name="Rectangle: Rounded Corners 341">
            <a:extLst>
              <a:ext uri="{FF2B5EF4-FFF2-40B4-BE49-F238E27FC236}">
                <a16:creationId xmlns:a16="http://schemas.microsoft.com/office/drawing/2014/main" id="{D0B47138-EC3F-B7F6-AFA6-ECBBBEB534A9}"/>
              </a:ext>
            </a:extLst>
          </p:cNvPr>
          <p:cNvSpPr/>
          <p:nvPr/>
        </p:nvSpPr>
        <p:spPr>
          <a:xfrm>
            <a:off x="14507784" y="2910729"/>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Enter your registered Email Address.</a:t>
            </a:r>
          </a:p>
        </p:txBody>
      </p:sp>
      <p:sp>
        <p:nvSpPr>
          <p:cNvPr id="343" name="Rectangle: Rounded Corners 342">
            <a:extLst>
              <a:ext uri="{FF2B5EF4-FFF2-40B4-BE49-F238E27FC236}">
                <a16:creationId xmlns:a16="http://schemas.microsoft.com/office/drawing/2014/main" id="{583DACDB-D21C-7B85-ED7E-494609ECCB10}"/>
              </a:ext>
            </a:extLst>
          </p:cNvPr>
          <p:cNvSpPr/>
          <p:nvPr/>
        </p:nvSpPr>
        <p:spPr>
          <a:xfrm>
            <a:off x="15239304" y="3581171"/>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Enter your Password.</a:t>
            </a:r>
          </a:p>
        </p:txBody>
      </p:sp>
      <p:sp>
        <p:nvSpPr>
          <p:cNvPr id="344" name="Rectangle: Rounded Corners 343">
            <a:extLst>
              <a:ext uri="{FF2B5EF4-FFF2-40B4-BE49-F238E27FC236}">
                <a16:creationId xmlns:a16="http://schemas.microsoft.com/office/drawing/2014/main" id="{BCBEA0E8-CE7A-34F8-8DB1-C73C133C11E7}"/>
              </a:ext>
            </a:extLst>
          </p:cNvPr>
          <p:cNvSpPr/>
          <p:nvPr/>
        </p:nvSpPr>
        <p:spPr>
          <a:xfrm>
            <a:off x="15970824" y="4251613"/>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Click on the Sign In button.</a:t>
            </a:r>
          </a:p>
        </p:txBody>
      </p:sp>
      <p:sp>
        <p:nvSpPr>
          <p:cNvPr id="345" name="Rectangle: Rounded Corners 344">
            <a:extLst>
              <a:ext uri="{FF2B5EF4-FFF2-40B4-BE49-F238E27FC236}">
                <a16:creationId xmlns:a16="http://schemas.microsoft.com/office/drawing/2014/main" id="{B0CDAE5C-1DC2-F16D-E07C-09FF526DCB98}"/>
              </a:ext>
            </a:extLst>
          </p:cNvPr>
          <p:cNvSpPr/>
          <p:nvPr/>
        </p:nvSpPr>
        <p:spPr>
          <a:xfrm>
            <a:off x="16717584" y="4922052"/>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If credentials are correct, you will be redirected to your dashboard (Student/Teacher).</a:t>
            </a:r>
          </a:p>
        </p:txBody>
      </p:sp>
      <p:sp>
        <p:nvSpPr>
          <p:cNvPr id="346" name="Rectangle: Rounded Corners 345">
            <a:extLst>
              <a:ext uri="{FF2B5EF4-FFF2-40B4-BE49-F238E27FC236}">
                <a16:creationId xmlns:a16="http://schemas.microsoft.com/office/drawing/2014/main" id="{FB963727-3562-1908-ED5C-943737802EA4}"/>
              </a:ext>
            </a:extLst>
          </p:cNvPr>
          <p:cNvSpPr/>
          <p:nvPr/>
        </p:nvSpPr>
        <p:spPr>
          <a:xfrm>
            <a:off x="17503356" y="5806755"/>
            <a:ext cx="4170949" cy="548159"/>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bg1"/>
                </a:solidFill>
              </a:rPr>
              <a:t>✅ Login process completed.</a:t>
            </a:r>
          </a:p>
        </p:txBody>
      </p:sp>
      <p:sp>
        <p:nvSpPr>
          <p:cNvPr id="8" name="TextBox 7">
            <a:extLst>
              <a:ext uri="{FF2B5EF4-FFF2-40B4-BE49-F238E27FC236}">
                <a16:creationId xmlns:a16="http://schemas.microsoft.com/office/drawing/2014/main" id="{7A25EBCA-11C0-5D7D-6EAB-B1385D40EB90}"/>
              </a:ext>
            </a:extLst>
          </p:cNvPr>
          <p:cNvSpPr txBox="1"/>
          <p:nvPr/>
        </p:nvSpPr>
        <p:spPr>
          <a:xfrm>
            <a:off x="9926240" y="2514600"/>
            <a:ext cx="1828800" cy="1828800"/>
          </a:xfrm>
          <a:prstGeom prst="rect">
            <a:avLst/>
          </a:prstGeom>
          <a:noFill/>
        </p:spPr>
        <p:txBody>
          <a:bodyPr wrap="square" rtlCol="0">
            <a:spAutoFit/>
          </a:bodyPr>
          <a:lstStyle/>
          <a:p>
            <a:pPr algn="l"/>
            <a:endParaRPr lang="en-US" dirty="0"/>
          </a:p>
        </p:txBody>
      </p:sp>
      <p:sp>
        <p:nvSpPr>
          <p:cNvPr id="25" name="TextBox 24">
            <a:extLst>
              <a:ext uri="{FF2B5EF4-FFF2-40B4-BE49-F238E27FC236}">
                <a16:creationId xmlns:a16="http://schemas.microsoft.com/office/drawing/2014/main" id="{C588008A-2FB3-F3EA-9AE0-366258B185C1}"/>
              </a:ext>
            </a:extLst>
          </p:cNvPr>
          <p:cNvSpPr txBox="1"/>
          <p:nvPr/>
        </p:nvSpPr>
        <p:spPr>
          <a:xfrm>
            <a:off x="9926240" y="2514600"/>
            <a:ext cx="1828800" cy="1828800"/>
          </a:xfrm>
          <a:prstGeom prst="rect">
            <a:avLst/>
          </a:prstGeom>
          <a:noFill/>
        </p:spPr>
        <p:txBody>
          <a:bodyPr wrap="square" rtlCol="0">
            <a:spAutoFit/>
          </a:bodyPr>
          <a:lstStyle/>
          <a:p>
            <a:pPr algn="l"/>
            <a:endParaRPr lang="en-US" dirty="0"/>
          </a:p>
        </p:txBody>
      </p:sp>
      <p:sp>
        <p:nvSpPr>
          <p:cNvPr id="31" name="TextBox 30">
            <a:extLst>
              <a:ext uri="{FF2B5EF4-FFF2-40B4-BE49-F238E27FC236}">
                <a16:creationId xmlns:a16="http://schemas.microsoft.com/office/drawing/2014/main" id="{48F7A130-F837-66B4-CA85-BC9C408A45D3}"/>
              </a:ext>
            </a:extLst>
          </p:cNvPr>
          <p:cNvSpPr txBox="1"/>
          <p:nvPr/>
        </p:nvSpPr>
        <p:spPr>
          <a:xfrm flipV="1">
            <a:off x="9465469" y="1357313"/>
            <a:ext cx="2289571" cy="1157287"/>
          </a:xfrm>
          <a:prstGeom prst="rect">
            <a:avLst/>
          </a:prstGeom>
          <a:noFill/>
        </p:spPr>
        <p:txBody>
          <a:bodyPr wrap="square" rtlCol="0">
            <a:spAutoFit/>
          </a:bodyPr>
          <a:lstStyle/>
          <a:p>
            <a:pPr algn="l"/>
            <a:endParaRPr lang="en-US" dirty="0"/>
          </a:p>
        </p:txBody>
      </p:sp>
      <p:sp>
        <p:nvSpPr>
          <p:cNvPr id="34" name="TextBox 33">
            <a:extLst>
              <a:ext uri="{FF2B5EF4-FFF2-40B4-BE49-F238E27FC236}">
                <a16:creationId xmlns:a16="http://schemas.microsoft.com/office/drawing/2014/main" id="{6FB7895B-321D-C72F-8351-46A953FA1BF0}"/>
              </a:ext>
            </a:extLst>
          </p:cNvPr>
          <p:cNvSpPr txBox="1"/>
          <p:nvPr/>
        </p:nvSpPr>
        <p:spPr>
          <a:xfrm>
            <a:off x="449830" y="2035621"/>
            <a:ext cx="5536406" cy="2862322"/>
          </a:xfrm>
          <a:prstGeom prst="rect">
            <a:avLst/>
          </a:prstGeom>
          <a:noFill/>
          <a:ln>
            <a:solidFill>
              <a:schemeClr val="bg1"/>
            </a:solidFill>
          </a:ln>
        </p:spPr>
        <p:txBody>
          <a:bodyPr wrap="square" rtlCol="0">
            <a:spAutoFit/>
          </a:bodyPr>
          <a:lstStyle/>
          <a:p>
            <a:pPr marL="342900" indent="-342900">
              <a:buFont typeface="Arial" panose="020B0604020202020204" pitchFamily="34" charset="0"/>
              <a:buChar char="•"/>
            </a:pPr>
            <a:r>
              <a:rPr lang="en-US" dirty="0">
                <a:solidFill>
                  <a:schemeClr val="bg2"/>
                </a:solidFill>
              </a:rPr>
              <a:t>“The system starts and displays the homepage.</a:t>
            </a:r>
          </a:p>
          <a:p>
            <a:pPr marL="342900" indent="-342900">
              <a:buFont typeface="Arial" panose="020B0604020202020204" pitchFamily="34" charset="0"/>
              <a:buChar char="•"/>
            </a:pPr>
            <a:r>
              <a:rPr lang="en-US" dirty="0">
                <a:solidFill>
                  <a:schemeClr val="bg2"/>
                </a:solidFill>
              </a:rPr>
              <a:t>The user selects Dashboard, Budget Page, or Expense Page.</a:t>
            </a:r>
          </a:p>
          <a:p>
            <a:pPr marL="342900" indent="-342900">
              <a:buFont typeface="Arial" panose="020B0604020202020204" pitchFamily="34" charset="0"/>
              <a:buChar char="•"/>
            </a:pPr>
            <a:r>
              <a:rPr lang="en-US" dirty="0">
                <a:solidFill>
                  <a:schemeClr val="bg2"/>
                </a:solidFill>
              </a:rPr>
              <a:t>In the Dashboard, total budget and total expenses are calculated and displayed.</a:t>
            </a:r>
          </a:p>
          <a:p>
            <a:pPr marL="342900" indent="-342900">
              <a:buFont typeface="Arial" panose="020B0604020202020204" pitchFamily="34" charset="0"/>
              <a:buChar char="•"/>
            </a:pPr>
            <a:r>
              <a:rPr lang="en-US" dirty="0">
                <a:solidFill>
                  <a:schemeClr val="bg2"/>
                </a:solidFill>
              </a:rPr>
              <a:t>In the Budget Page, create, edit, and delete operations are performed.</a:t>
            </a:r>
          </a:p>
          <a:p>
            <a:pPr marL="342900" indent="-342900">
              <a:buFont typeface="Arial" panose="020B0604020202020204" pitchFamily="34" charset="0"/>
              <a:buChar char="•"/>
            </a:pPr>
            <a:r>
              <a:rPr lang="en-US" dirty="0">
                <a:solidFill>
                  <a:schemeClr val="bg2"/>
                </a:solidFill>
              </a:rPr>
              <a:t>In the Expense Page, the user adds expenses and they are stored.</a:t>
            </a:r>
          </a:p>
          <a:p>
            <a:pPr marL="342900" indent="-342900">
              <a:buFont typeface="Arial" panose="020B0604020202020204" pitchFamily="34" charset="0"/>
              <a:buChar char="•"/>
            </a:pPr>
            <a:r>
              <a:rPr lang="en-US" dirty="0">
                <a:solidFill>
                  <a:schemeClr val="bg2"/>
                </a:solidFill>
              </a:rPr>
              <a:t>Finally, the user can return to the homepage.”</a:t>
            </a:r>
          </a:p>
        </p:txBody>
      </p:sp>
      <p:sp>
        <p:nvSpPr>
          <p:cNvPr id="50" name="Flowchart: Terminator 49">
            <a:extLst>
              <a:ext uri="{FF2B5EF4-FFF2-40B4-BE49-F238E27FC236}">
                <a16:creationId xmlns:a16="http://schemas.microsoft.com/office/drawing/2014/main" id="{EFCBAE51-7A88-AF81-E0AD-4DDEC9AAB908}"/>
              </a:ext>
            </a:extLst>
          </p:cNvPr>
          <p:cNvSpPr/>
          <p:nvPr/>
        </p:nvSpPr>
        <p:spPr>
          <a:xfrm rot="10800000" flipV="1">
            <a:off x="607219" y="511968"/>
            <a:ext cx="4822031" cy="1057879"/>
          </a:xfrm>
          <a:prstGeom prst="flowChartTerminator">
            <a:avLst/>
          </a:prstGeom>
          <a:solidFill>
            <a:srgbClr val="8631C5"/>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2800" b="1" dirty="0">
                <a:latin typeface="Broadway" pitchFamily="82" charset="0"/>
              </a:rPr>
              <a:t>Working of flowchart </a:t>
            </a:r>
            <a:endParaRPr lang="en-US" sz="2800" b="1" dirty="0">
              <a:latin typeface="Broadway" pitchFamily="82" charset="0"/>
            </a:endParaRPr>
          </a:p>
        </p:txBody>
      </p:sp>
      <p:pic>
        <p:nvPicPr>
          <p:cNvPr id="6" name="Picture 5">
            <a:extLst>
              <a:ext uri="{FF2B5EF4-FFF2-40B4-BE49-F238E27FC236}">
                <a16:creationId xmlns:a16="http://schemas.microsoft.com/office/drawing/2014/main" id="{3896639B-0D86-3F6E-97B5-A302F2A681BF}"/>
              </a:ext>
            </a:extLst>
          </p:cNvPr>
          <p:cNvPicPr>
            <a:picLocks noChangeAspect="1"/>
          </p:cNvPicPr>
          <p:nvPr/>
        </p:nvPicPr>
        <p:blipFill>
          <a:blip r:embed="rId3"/>
          <a:stretch>
            <a:fillRect/>
          </a:stretch>
        </p:blipFill>
        <p:spPr>
          <a:xfrm>
            <a:off x="7104904" y="347369"/>
            <a:ext cx="4572000" cy="6467604"/>
          </a:xfrm>
          <a:prstGeom prst="rect">
            <a:avLst/>
          </a:prstGeom>
        </p:spPr>
      </p:pic>
    </p:spTree>
    <p:extLst>
      <p:ext uri="{BB962C8B-B14F-4D97-AF65-F5344CB8AC3E}">
        <p14:creationId xmlns:p14="http://schemas.microsoft.com/office/powerpoint/2010/main" val="3755199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C5CF8FC0-8C09-CD8D-6EF1-AAD6C23AACE8}"/>
              </a:ext>
            </a:extLst>
          </p:cNvPr>
          <p:cNvSpPr/>
          <p:nvPr/>
        </p:nvSpPr>
        <p:spPr>
          <a:xfrm>
            <a:off x="4580511" y="11600478"/>
            <a:ext cx="3584814" cy="1009747"/>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4" name="Group 23">
            <a:extLst>
              <a:ext uri="{FF2B5EF4-FFF2-40B4-BE49-F238E27FC236}">
                <a16:creationId xmlns:a16="http://schemas.microsoft.com/office/drawing/2014/main" id="{C5601A35-E5EC-7110-A735-EBC88E6EBE82}"/>
              </a:ext>
            </a:extLst>
          </p:cNvPr>
          <p:cNvGrpSpPr/>
          <p:nvPr/>
        </p:nvGrpSpPr>
        <p:grpSpPr>
          <a:xfrm>
            <a:off x="6244451" y="11697301"/>
            <a:ext cx="280085" cy="294279"/>
            <a:chOff x="5683031" y="3726241"/>
            <a:chExt cx="600387" cy="630814"/>
          </a:xfrm>
        </p:grpSpPr>
        <p:sp>
          <p:nvSpPr>
            <p:cNvPr id="25" name="Rectangle: Rounded Corners 24">
              <a:extLst>
                <a:ext uri="{FF2B5EF4-FFF2-40B4-BE49-F238E27FC236}">
                  <a16:creationId xmlns:a16="http://schemas.microsoft.com/office/drawing/2014/main" id="{8718F975-A0E0-0FF7-CFCE-9FCF7624A7C6}"/>
                </a:ext>
              </a:extLst>
            </p:cNvPr>
            <p:cNvSpPr/>
            <p:nvPr/>
          </p:nvSpPr>
          <p:spPr>
            <a:xfrm>
              <a:off x="5683031" y="3726241"/>
              <a:ext cx="600387" cy="630814"/>
            </a:xfrm>
            <a:prstGeom prst="roundRect">
              <a:avLst/>
            </a:prstGeom>
            <a:solidFill>
              <a:schemeClr val="accent1">
                <a:alpha val="50000"/>
              </a:schemeClr>
            </a:solidFill>
            <a:ln w="95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8" name="Graphic 27" descr="Document with solid fill">
              <a:extLst>
                <a:ext uri="{FF2B5EF4-FFF2-40B4-BE49-F238E27FC236}">
                  <a16:creationId xmlns:a16="http://schemas.microsoft.com/office/drawing/2014/main" id="{EC036780-C76D-9797-34A0-E8DB90EDF4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25147" y="3783571"/>
              <a:ext cx="516155" cy="516155"/>
            </a:xfrm>
            <a:prstGeom prst="rect">
              <a:avLst/>
            </a:prstGeom>
          </p:spPr>
        </p:pic>
      </p:grpSp>
      <p:sp>
        <p:nvSpPr>
          <p:cNvPr id="31" name="Rectangle: Rounded Corners 30">
            <a:extLst>
              <a:ext uri="{FF2B5EF4-FFF2-40B4-BE49-F238E27FC236}">
                <a16:creationId xmlns:a16="http://schemas.microsoft.com/office/drawing/2014/main" id="{D55193BF-179D-CDBC-CCDE-436378AE8F7D}"/>
              </a:ext>
            </a:extLst>
          </p:cNvPr>
          <p:cNvSpPr/>
          <p:nvPr/>
        </p:nvSpPr>
        <p:spPr>
          <a:xfrm>
            <a:off x="4580511" y="12735834"/>
            <a:ext cx="3584814" cy="426575"/>
          </a:xfrm>
          <a:prstGeom prst="roundRect">
            <a:avLst>
              <a:gd name="adj" fmla="val 2796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Upload Resources</a:t>
            </a:r>
            <a:endParaRPr lang="en-IN" sz="1400" dirty="0"/>
          </a:p>
        </p:txBody>
      </p:sp>
      <p:grpSp>
        <p:nvGrpSpPr>
          <p:cNvPr id="44" name="Group 43">
            <a:extLst>
              <a:ext uri="{FF2B5EF4-FFF2-40B4-BE49-F238E27FC236}">
                <a16:creationId xmlns:a16="http://schemas.microsoft.com/office/drawing/2014/main" id="{ED1F34B8-8390-112A-77F7-71FBFC0847E5}"/>
              </a:ext>
            </a:extLst>
          </p:cNvPr>
          <p:cNvGrpSpPr/>
          <p:nvPr/>
        </p:nvGrpSpPr>
        <p:grpSpPr>
          <a:xfrm>
            <a:off x="12978486" y="1139173"/>
            <a:ext cx="3240001" cy="504000"/>
            <a:chOff x="8383040" y="1085445"/>
            <a:chExt cx="3240001" cy="504000"/>
          </a:xfrm>
        </p:grpSpPr>
        <p:sp>
          <p:nvSpPr>
            <p:cNvPr id="47" name="Rectangle: Rounded Corners 46">
              <a:extLst>
                <a:ext uri="{FF2B5EF4-FFF2-40B4-BE49-F238E27FC236}">
                  <a16:creationId xmlns:a16="http://schemas.microsoft.com/office/drawing/2014/main" id="{3300C1E7-4602-B135-A941-C7FC329C6D54}"/>
                </a:ext>
              </a:extLst>
            </p:cNvPr>
            <p:cNvSpPr/>
            <p:nvPr/>
          </p:nvSpPr>
          <p:spPr>
            <a:xfrm>
              <a:off x="8383040" y="1085445"/>
              <a:ext cx="3240001" cy="504000"/>
            </a:xfrm>
            <a:prstGeom prst="roundRect">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bg1">
                    <a:lumMod val="50000"/>
                  </a:schemeClr>
                </a:solidFill>
              </a:endParaRPr>
            </a:p>
          </p:txBody>
        </p:sp>
        <p:sp>
          <p:nvSpPr>
            <p:cNvPr id="48" name="Rectangle: Rounded Corners 47">
              <a:extLst>
                <a:ext uri="{FF2B5EF4-FFF2-40B4-BE49-F238E27FC236}">
                  <a16:creationId xmlns:a16="http://schemas.microsoft.com/office/drawing/2014/main" id="{222C55B5-9EFF-ADC2-539F-1641A275E61E}"/>
                </a:ext>
              </a:extLst>
            </p:cNvPr>
            <p:cNvSpPr/>
            <p:nvPr/>
          </p:nvSpPr>
          <p:spPr>
            <a:xfrm>
              <a:off x="8438600" y="1178560"/>
              <a:ext cx="990000" cy="288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Browse</a:t>
              </a:r>
              <a:endParaRPr lang="en-IN" sz="1100" dirty="0">
                <a:solidFill>
                  <a:schemeClr val="bg1"/>
                </a:solidFill>
              </a:endParaRPr>
            </a:p>
          </p:txBody>
        </p:sp>
        <p:sp>
          <p:nvSpPr>
            <p:cNvPr id="49" name="Rectangle: Rounded Corners 48">
              <a:extLst>
                <a:ext uri="{FF2B5EF4-FFF2-40B4-BE49-F238E27FC236}">
                  <a16:creationId xmlns:a16="http://schemas.microsoft.com/office/drawing/2014/main" id="{1491CC29-D8F0-681F-B2E0-C87A0A19712D}"/>
                </a:ext>
              </a:extLst>
            </p:cNvPr>
            <p:cNvSpPr/>
            <p:nvPr/>
          </p:nvSpPr>
          <p:spPr>
            <a:xfrm>
              <a:off x="9508040" y="1178560"/>
              <a:ext cx="990000" cy="288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My Uploads</a:t>
              </a:r>
              <a:endParaRPr lang="en-IN" sz="1100" dirty="0">
                <a:solidFill>
                  <a:schemeClr val="bg1"/>
                </a:solidFill>
              </a:endParaRPr>
            </a:p>
          </p:txBody>
        </p:sp>
        <p:sp>
          <p:nvSpPr>
            <p:cNvPr id="50" name="Rectangle: Rounded Corners 49">
              <a:extLst>
                <a:ext uri="{FF2B5EF4-FFF2-40B4-BE49-F238E27FC236}">
                  <a16:creationId xmlns:a16="http://schemas.microsoft.com/office/drawing/2014/main" id="{F34AA6EE-6CDB-0188-33D4-0CE2BCEAE1E5}"/>
                </a:ext>
              </a:extLst>
            </p:cNvPr>
            <p:cNvSpPr/>
            <p:nvPr/>
          </p:nvSpPr>
          <p:spPr>
            <a:xfrm>
              <a:off x="10577480" y="1178560"/>
              <a:ext cx="990000" cy="28800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New Upload</a:t>
              </a:r>
              <a:endParaRPr lang="en-IN" sz="1100" dirty="0"/>
            </a:p>
          </p:txBody>
        </p:sp>
      </p:grpSp>
      <p:sp>
        <p:nvSpPr>
          <p:cNvPr id="51" name="Minus Sign 50">
            <a:extLst>
              <a:ext uri="{FF2B5EF4-FFF2-40B4-BE49-F238E27FC236}">
                <a16:creationId xmlns:a16="http://schemas.microsoft.com/office/drawing/2014/main" id="{4DAD86EB-6555-13C2-445F-E360DF51B6BC}"/>
              </a:ext>
            </a:extLst>
          </p:cNvPr>
          <p:cNvSpPr/>
          <p:nvPr/>
        </p:nvSpPr>
        <p:spPr>
          <a:xfrm>
            <a:off x="1726251" y="1668540"/>
            <a:ext cx="2948511" cy="2312158"/>
          </a:xfrm>
          <a:prstGeom prst="mathMinus">
            <a:avLst/>
          </a:prstGeom>
          <a:solidFill>
            <a:srgbClr val="42516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b="1" dirty="0"/>
              <a:t>Dashboard</a:t>
            </a:r>
            <a:r>
              <a:rPr lang="en-GB" dirty="0"/>
              <a:t> </a:t>
            </a:r>
            <a:endParaRPr lang="en-US" dirty="0"/>
          </a:p>
        </p:txBody>
      </p:sp>
      <p:sp>
        <p:nvSpPr>
          <p:cNvPr id="53" name="Minus Sign 52">
            <a:extLst>
              <a:ext uri="{FF2B5EF4-FFF2-40B4-BE49-F238E27FC236}">
                <a16:creationId xmlns:a16="http://schemas.microsoft.com/office/drawing/2014/main" id="{0DE83AE0-E1CE-3D10-173F-A9F7AE9F816F}"/>
              </a:ext>
            </a:extLst>
          </p:cNvPr>
          <p:cNvSpPr/>
          <p:nvPr/>
        </p:nvSpPr>
        <p:spPr>
          <a:xfrm>
            <a:off x="1726251" y="2251473"/>
            <a:ext cx="2930893" cy="2776644"/>
          </a:xfrm>
          <a:prstGeom prst="mathMinus">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Budget Page</a:t>
            </a:r>
            <a:endParaRPr lang="en-US" b="1" dirty="0"/>
          </a:p>
        </p:txBody>
      </p:sp>
      <p:sp>
        <p:nvSpPr>
          <p:cNvPr id="54" name="Minus Sign 53">
            <a:extLst>
              <a:ext uri="{FF2B5EF4-FFF2-40B4-BE49-F238E27FC236}">
                <a16:creationId xmlns:a16="http://schemas.microsoft.com/office/drawing/2014/main" id="{FE35F251-CBD5-3D9B-588A-F711E9B9CE37}"/>
              </a:ext>
            </a:extLst>
          </p:cNvPr>
          <p:cNvSpPr/>
          <p:nvPr/>
        </p:nvSpPr>
        <p:spPr>
          <a:xfrm>
            <a:off x="1726251" y="3319610"/>
            <a:ext cx="2930893" cy="2230085"/>
          </a:xfrm>
          <a:prstGeom prst="mathMinus">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Expense Page </a:t>
            </a:r>
            <a:endParaRPr lang="en-US" b="1" dirty="0"/>
          </a:p>
        </p:txBody>
      </p:sp>
      <p:sp>
        <p:nvSpPr>
          <p:cNvPr id="55" name="TextBox 54">
            <a:extLst>
              <a:ext uri="{FF2B5EF4-FFF2-40B4-BE49-F238E27FC236}">
                <a16:creationId xmlns:a16="http://schemas.microsoft.com/office/drawing/2014/main" id="{74F3B727-FDA7-8CDD-4818-F37501A0570D}"/>
              </a:ext>
            </a:extLst>
          </p:cNvPr>
          <p:cNvSpPr txBox="1"/>
          <p:nvPr/>
        </p:nvSpPr>
        <p:spPr>
          <a:xfrm rot="10800000" flipV="1">
            <a:off x="2110221" y="1791365"/>
            <a:ext cx="2362939" cy="523220"/>
          </a:xfrm>
          <a:prstGeom prst="rect">
            <a:avLst/>
          </a:prstGeom>
          <a:noFill/>
        </p:spPr>
        <p:txBody>
          <a:bodyPr wrap="square" rtlCol="0">
            <a:spAutoFit/>
          </a:bodyPr>
          <a:lstStyle/>
          <a:p>
            <a:pPr algn="l"/>
            <a:r>
              <a:rPr lang="en-GB" sz="2800" b="1" dirty="0">
                <a:solidFill>
                  <a:schemeClr val="bg1"/>
                </a:solidFill>
              </a:rPr>
              <a:t>HOME PAGE </a:t>
            </a:r>
            <a:endParaRPr lang="en-US" sz="2800" b="1" dirty="0">
              <a:solidFill>
                <a:schemeClr val="bg1"/>
              </a:solidFill>
            </a:endParaRPr>
          </a:p>
        </p:txBody>
      </p:sp>
      <p:cxnSp>
        <p:nvCxnSpPr>
          <p:cNvPr id="56" name="Straight Arrow Connector 55">
            <a:extLst>
              <a:ext uri="{FF2B5EF4-FFF2-40B4-BE49-F238E27FC236}">
                <a16:creationId xmlns:a16="http://schemas.microsoft.com/office/drawing/2014/main" id="{B8EACBD4-EE2F-E7C4-ED78-1F1F167A2E03}"/>
              </a:ext>
            </a:extLst>
          </p:cNvPr>
          <p:cNvCxnSpPr>
            <a:cxnSpLocks/>
            <a:stCxn id="51" idx="0"/>
            <a:endCxn id="91" idx="1"/>
          </p:cNvCxnSpPr>
          <p:nvPr/>
        </p:nvCxnSpPr>
        <p:spPr>
          <a:xfrm flipV="1">
            <a:off x="4283937" y="1269310"/>
            <a:ext cx="2859811" cy="155530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3A58264-D8B9-BDCE-9377-A8561CE48DDE}"/>
              </a:ext>
            </a:extLst>
          </p:cNvPr>
          <p:cNvCxnSpPr>
            <a:cxnSpLocks/>
            <a:stCxn id="53" idx="0"/>
          </p:cNvCxnSpPr>
          <p:nvPr/>
        </p:nvCxnSpPr>
        <p:spPr>
          <a:xfrm flipV="1">
            <a:off x="4268654" y="3612365"/>
            <a:ext cx="2875096" cy="2743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7B3BFE9-B82C-DF27-064B-EAA3F1C5CF4E}"/>
              </a:ext>
            </a:extLst>
          </p:cNvPr>
          <p:cNvCxnSpPr>
            <a:cxnSpLocks/>
            <a:stCxn id="54" idx="0"/>
          </p:cNvCxnSpPr>
          <p:nvPr/>
        </p:nvCxnSpPr>
        <p:spPr>
          <a:xfrm>
            <a:off x="4268654" y="4434653"/>
            <a:ext cx="2875096" cy="164183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1" name="Rectangle: Rounded Corners 90">
            <a:extLst>
              <a:ext uri="{FF2B5EF4-FFF2-40B4-BE49-F238E27FC236}">
                <a16:creationId xmlns:a16="http://schemas.microsoft.com/office/drawing/2014/main" id="{CEA71972-D620-34BA-7FB7-EF1438FAC23C}"/>
              </a:ext>
            </a:extLst>
          </p:cNvPr>
          <p:cNvSpPr/>
          <p:nvPr/>
        </p:nvSpPr>
        <p:spPr>
          <a:xfrm>
            <a:off x="7143748" y="303213"/>
            <a:ext cx="3655235" cy="1932193"/>
          </a:xfrm>
          <a:prstGeom prst="roundRect">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Dashboard shows a summary of financial data.
It displays total income, expenses, savings, and charts for analysis.
Helps users quickly understand their financial status.</a:t>
            </a:r>
            <a:endParaRPr lang="en-US" dirty="0"/>
          </a:p>
        </p:txBody>
      </p:sp>
      <p:sp>
        <p:nvSpPr>
          <p:cNvPr id="92" name="Rectangle: Rounded Corners 91">
            <a:extLst>
              <a:ext uri="{FF2B5EF4-FFF2-40B4-BE49-F238E27FC236}">
                <a16:creationId xmlns:a16="http://schemas.microsoft.com/office/drawing/2014/main" id="{194E6D75-ADA7-8EA1-C0EA-3E9F6C0ABB8D}"/>
              </a:ext>
            </a:extLst>
          </p:cNvPr>
          <p:cNvSpPr/>
          <p:nvPr/>
        </p:nvSpPr>
        <p:spPr>
          <a:xfrm>
            <a:off x="7143749" y="2526490"/>
            <a:ext cx="3655235" cy="1904417"/>
          </a:xfrm>
          <a:prstGeom prst="roundRect">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Budget Page allows users to set spending limits for different categories.
Users can track whether they are within their budget.
Helps in controlling unnecessary expenses.</a:t>
            </a:r>
            <a:endParaRPr lang="en-US" dirty="0"/>
          </a:p>
        </p:txBody>
      </p:sp>
      <p:sp>
        <p:nvSpPr>
          <p:cNvPr id="93" name="Rectangle: Rounded Corners 92">
            <a:extLst>
              <a:ext uri="{FF2B5EF4-FFF2-40B4-BE49-F238E27FC236}">
                <a16:creationId xmlns:a16="http://schemas.microsoft.com/office/drawing/2014/main" id="{47A6685E-66A0-F64E-99AF-838C59892620}"/>
              </a:ext>
            </a:extLst>
          </p:cNvPr>
          <p:cNvSpPr/>
          <p:nvPr/>
        </p:nvSpPr>
        <p:spPr>
          <a:xfrm>
            <a:off x="7143748" y="4721991"/>
            <a:ext cx="3655235" cy="1986264"/>
          </a:xfrm>
          <a:prstGeom prst="roundRect">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Expense Page is used to add and manage daily expenses.
Users can enter details like amount, category, and date.
Helps in maintaining a record of all transactions.</a:t>
            </a:r>
            <a:endParaRPr lang="en-US" dirty="0"/>
          </a:p>
        </p:txBody>
      </p:sp>
    </p:spTree>
    <p:extLst>
      <p:ext uri="{BB962C8B-B14F-4D97-AF65-F5344CB8AC3E}">
        <p14:creationId xmlns:p14="http://schemas.microsoft.com/office/powerpoint/2010/main" val="2273383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CC0660F2-DB97-5ED1-AD3B-C21E7FF4CDA4}"/>
              </a:ext>
            </a:extLst>
          </p:cNvPr>
          <p:cNvSpPr txBox="1"/>
          <p:nvPr/>
        </p:nvSpPr>
        <p:spPr>
          <a:xfrm>
            <a:off x="2476500" y="1900950"/>
            <a:ext cx="4286250" cy="523220"/>
          </a:xfrm>
          <a:prstGeom prst="rect">
            <a:avLst/>
          </a:prstGeom>
          <a:noFill/>
        </p:spPr>
        <p:txBody>
          <a:bodyPr wrap="square" rtlCol="0">
            <a:spAutoFit/>
          </a:bodyPr>
          <a:lstStyle/>
          <a:p>
            <a:pPr algn="l"/>
            <a:r>
              <a:rPr lang="en-GB" sz="2800" b="1" dirty="0">
                <a:solidFill>
                  <a:schemeClr val="bg1"/>
                </a:solidFill>
              </a:rPr>
              <a:t>Dashboard</a:t>
            </a:r>
            <a:r>
              <a:rPr lang="en-GB" dirty="0">
                <a:solidFill>
                  <a:schemeClr val="bg1"/>
                </a:solidFill>
              </a:rPr>
              <a:t> </a:t>
            </a:r>
            <a:endParaRPr lang="en-US" dirty="0">
              <a:solidFill>
                <a:schemeClr val="bg1"/>
              </a:solidFill>
            </a:endParaRPr>
          </a:p>
        </p:txBody>
      </p:sp>
      <p:sp>
        <p:nvSpPr>
          <p:cNvPr id="39" name="TextBox 38">
            <a:extLst>
              <a:ext uri="{FF2B5EF4-FFF2-40B4-BE49-F238E27FC236}">
                <a16:creationId xmlns:a16="http://schemas.microsoft.com/office/drawing/2014/main" id="{AE5DF552-903E-1300-9132-8214FC482E3E}"/>
              </a:ext>
            </a:extLst>
          </p:cNvPr>
          <p:cNvSpPr txBox="1"/>
          <p:nvPr/>
        </p:nvSpPr>
        <p:spPr>
          <a:xfrm>
            <a:off x="2476500" y="2621756"/>
            <a:ext cx="2640808" cy="707886"/>
          </a:xfrm>
          <a:prstGeom prst="rect">
            <a:avLst/>
          </a:prstGeom>
          <a:solidFill>
            <a:srgbClr val="11151A"/>
          </a:solidFill>
        </p:spPr>
        <p:txBody>
          <a:bodyPr wrap="square" rtlCol="0">
            <a:spAutoFit/>
          </a:bodyPr>
          <a:lstStyle/>
          <a:p>
            <a:pPr algn="l"/>
            <a:r>
              <a:rPr lang="en-GB" sz="2000" dirty="0">
                <a:solidFill>
                  <a:schemeClr val="bg1"/>
                </a:solidFill>
              </a:rPr>
              <a:t>Total budget:   ₹0</a:t>
            </a:r>
          </a:p>
          <a:p>
            <a:pPr algn="l"/>
            <a:r>
              <a:rPr lang="en-GB" sz="2000" dirty="0">
                <a:solidFill>
                  <a:schemeClr val="bg1"/>
                </a:solidFill>
              </a:rPr>
              <a:t>Total Expense: ₹0</a:t>
            </a:r>
            <a:endParaRPr lang="en-US" sz="2000" dirty="0">
              <a:solidFill>
                <a:schemeClr val="bg1"/>
              </a:solidFill>
            </a:endParaRPr>
          </a:p>
        </p:txBody>
      </p:sp>
      <p:sp>
        <p:nvSpPr>
          <p:cNvPr id="40" name="Frame 39">
            <a:extLst>
              <a:ext uri="{FF2B5EF4-FFF2-40B4-BE49-F238E27FC236}">
                <a16:creationId xmlns:a16="http://schemas.microsoft.com/office/drawing/2014/main" id="{D69182F8-A149-33CA-31C5-B24C14926A6E}"/>
              </a:ext>
            </a:extLst>
          </p:cNvPr>
          <p:cNvSpPr/>
          <p:nvPr/>
        </p:nvSpPr>
        <p:spPr>
          <a:xfrm>
            <a:off x="2833686" y="3527228"/>
            <a:ext cx="1214439" cy="397611"/>
          </a:xfrm>
          <a:prstGeom prst="fram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bg1"/>
                </a:solidFill>
              </a:rPr>
              <a:t>Back</a:t>
            </a:r>
            <a:endParaRPr lang="en-US" sz="2000" dirty="0">
              <a:solidFill>
                <a:schemeClr val="bg1"/>
              </a:solidFill>
            </a:endParaRPr>
          </a:p>
        </p:txBody>
      </p:sp>
      <p:cxnSp>
        <p:nvCxnSpPr>
          <p:cNvPr id="41" name="Straight Arrow Connector 40">
            <a:extLst>
              <a:ext uri="{FF2B5EF4-FFF2-40B4-BE49-F238E27FC236}">
                <a16:creationId xmlns:a16="http://schemas.microsoft.com/office/drawing/2014/main" id="{54550D4E-C121-A50B-DD2F-5B8E66AF933B}"/>
              </a:ext>
            </a:extLst>
          </p:cNvPr>
          <p:cNvCxnSpPr>
            <a:cxnSpLocks/>
          </p:cNvCxnSpPr>
          <p:nvPr/>
        </p:nvCxnSpPr>
        <p:spPr>
          <a:xfrm>
            <a:off x="4357688" y="3115387"/>
            <a:ext cx="2524125"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B20F5B3-274F-4D66-56DA-14D78898FE19}"/>
              </a:ext>
            </a:extLst>
          </p:cNvPr>
          <p:cNvCxnSpPr>
            <a:cxnSpLocks/>
          </p:cNvCxnSpPr>
          <p:nvPr/>
        </p:nvCxnSpPr>
        <p:spPr>
          <a:xfrm flipV="1">
            <a:off x="4357688" y="1103602"/>
            <a:ext cx="2524123" cy="16824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D75C6EB-55E8-5B6D-9C85-78394900A9CB}"/>
              </a:ext>
            </a:extLst>
          </p:cNvPr>
          <p:cNvCxnSpPr>
            <a:cxnSpLocks/>
            <a:stCxn id="40" idx="3"/>
            <a:endCxn id="79" idx="1"/>
          </p:cNvCxnSpPr>
          <p:nvPr/>
        </p:nvCxnSpPr>
        <p:spPr>
          <a:xfrm>
            <a:off x="4048125" y="3726034"/>
            <a:ext cx="2833688" cy="188590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7" name="Rectangle: Rounded Corners 76">
            <a:extLst>
              <a:ext uri="{FF2B5EF4-FFF2-40B4-BE49-F238E27FC236}">
                <a16:creationId xmlns:a16="http://schemas.microsoft.com/office/drawing/2014/main" id="{FBA5D566-CB84-0270-3C44-3461BEDA5F44}"/>
              </a:ext>
            </a:extLst>
          </p:cNvPr>
          <p:cNvSpPr/>
          <p:nvPr/>
        </p:nvSpPr>
        <p:spPr>
          <a:xfrm>
            <a:off x="6934201" y="248827"/>
            <a:ext cx="4572001" cy="2000291"/>
          </a:xfrm>
          <a:prstGeom prst="roundRect">
            <a:avLst/>
          </a:prstGeom>
          <a:solidFill>
            <a:srgbClr val="11151A"/>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Total Budget shows the total amount of money planned for spending.
It helps users manage and control their expenses within a limit.</a:t>
            </a:r>
            <a:endParaRPr lang="en-US" dirty="0">
              <a:solidFill>
                <a:schemeClr val="bg1"/>
              </a:solidFill>
            </a:endParaRPr>
          </a:p>
        </p:txBody>
      </p:sp>
      <p:sp>
        <p:nvSpPr>
          <p:cNvPr id="78" name="Rectangle: Rounded Corners 77">
            <a:extLst>
              <a:ext uri="{FF2B5EF4-FFF2-40B4-BE49-F238E27FC236}">
                <a16:creationId xmlns:a16="http://schemas.microsoft.com/office/drawing/2014/main" id="{20516F9A-CB65-2791-18FF-4D250738CCBD}"/>
              </a:ext>
            </a:extLst>
          </p:cNvPr>
          <p:cNvSpPr/>
          <p:nvPr/>
        </p:nvSpPr>
        <p:spPr>
          <a:xfrm>
            <a:off x="6934201" y="2625130"/>
            <a:ext cx="4519612" cy="1769569"/>
          </a:xfrm>
          <a:prstGeom prst="roundRect">
            <a:avLst/>
          </a:prstGeom>
          <a:solidFill>
            <a:srgbClr val="11151A"/>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Total Expense shows the total amount of money already spent.
It helps users track their spending and avoid overspending.</a:t>
            </a:r>
            <a:endParaRPr lang="en-US" dirty="0"/>
          </a:p>
        </p:txBody>
      </p:sp>
      <p:sp>
        <p:nvSpPr>
          <p:cNvPr id="79" name="Rectangle: Rounded Corners 78">
            <a:extLst>
              <a:ext uri="{FF2B5EF4-FFF2-40B4-BE49-F238E27FC236}">
                <a16:creationId xmlns:a16="http://schemas.microsoft.com/office/drawing/2014/main" id="{9DD46341-34A6-F5ED-FD7F-4804DB975DE5}"/>
              </a:ext>
            </a:extLst>
          </p:cNvPr>
          <p:cNvSpPr/>
          <p:nvPr/>
        </p:nvSpPr>
        <p:spPr>
          <a:xfrm>
            <a:off x="6881813" y="4770711"/>
            <a:ext cx="4572000" cy="1682461"/>
          </a:xfrm>
          <a:prstGeom prst="roundRect">
            <a:avLst/>
          </a:prstGeom>
          <a:solidFill>
            <a:srgbClr val="11151A"/>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The Back button is used to return to the previous page (Home Page).
It helps in easy navigation within the system.</a:t>
            </a:r>
            <a:endParaRPr lang="en-US" dirty="0"/>
          </a:p>
        </p:txBody>
      </p:sp>
    </p:spTree>
    <p:extLst>
      <p:ext uri="{BB962C8B-B14F-4D97-AF65-F5344CB8AC3E}">
        <p14:creationId xmlns:p14="http://schemas.microsoft.com/office/powerpoint/2010/main" val="866177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BCE03-8522-A17B-6A45-DCBC0827A68A}"/>
            </a:ext>
          </a:extLst>
        </p:cNvPr>
        <p:cNvGrpSpPr/>
        <p:nvPr/>
      </p:nvGrpSpPr>
      <p:grpSpPr>
        <a:xfrm>
          <a:off x="0" y="0"/>
          <a:ext cx="0" cy="0"/>
          <a:chOff x="0" y="0"/>
          <a:chExt cx="0" cy="0"/>
        </a:xfrm>
      </p:grpSpPr>
      <p:sp>
        <p:nvSpPr>
          <p:cNvPr id="91" name="Rectangle: Rounded Corners 90">
            <a:extLst>
              <a:ext uri="{FF2B5EF4-FFF2-40B4-BE49-F238E27FC236}">
                <a16:creationId xmlns:a16="http://schemas.microsoft.com/office/drawing/2014/main" id="{FA8BC8A2-50A0-FD08-1BB2-9B368AB16011}"/>
              </a:ext>
            </a:extLst>
          </p:cNvPr>
          <p:cNvSpPr/>
          <p:nvPr/>
        </p:nvSpPr>
        <p:spPr>
          <a:xfrm>
            <a:off x="-3975018" y="2480608"/>
            <a:ext cx="2129915" cy="270473"/>
          </a:xfrm>
          <a:prstGeom prst="roundRect">
            <a:avLst>
              <a:gd name="adj" fmla="val 40614"/>
            </a:avLst>
          </a:prstGeom>
          <a:solidFill>
            <a:schemeClr val="tx2">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Profile: Computer  </a:t>
            </a:r>
            <a:r>
              <a:rPr lang="en-IN" sz="1100" b="1" dirty="0"/>
              <a:t>Year 1  Sem 1</a:t>
            </a:r>
          </a:p>
        </p:txBody>
      </p:sp>
      <p:sp>
        <p:nvSpPr>
          <p:cNvPr id="105" name="Rectangle: Rounded Corners 104">
            <a:extLst>
              <a:ext uri="{FF2B5EF4-FFF2-40B4-BE49-F238E27FC236}">
                <a16:creationId xmlns:a16="http://schemas.microsoft.com/office/drawing/2014/main" id="{50FEA4E9-9062-893D-D87D-2D31BAF094EB}"/>
              </a:ext>
            </a:extLst>
          </p:cNvPr>
          <p:cNvSpPr/>
          <p:nvPr/>
        </p:nvSpPr>
        <p:spPr>
          <a:xfrm>
            <a:off x="15761364"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LAB MANUALS</a:t>
            </a:r>
          </a:p>
          <a:p>
            <a:r>
              <a:rPr lang="en-US" sz="2000" b="1" dirty="0"/>
              <a:t>5</a:t>
            </a:r>
            <a:endParaRPr lang="en-IN" sz="2000" b="1" dirty="0"/>
          </a:p>
        </p:txBody>
      </p:sp>
      <p:sp>
        <p:nvSpPr>
          <p:cNvPr id="106" name="Rectangle: Rounded Corners 105">
            <a:extLst>
              <a:ext uri="{FF2B5EF4-FFF2-40B4-BE49-F238E27FC236}">
                <a16:creationId xmlns:a16="http://schemas.microsoft.com/office/drawing/2014/main" id="{C155A330-3BD6-7BFD-D458-56FCF4F6E677}"/>
              </a:ext>
            </a:extLst>
          </p:cNvPr>
          <p:cNvSpPr/>
          <p:nvPr/>
        </p:nvSpPr>
        <p:spPr>
          <a:xfrm>
            <a:off x="22276784"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MICROPROJECTS</a:t>
            </a:r>
          </a:p>
          <a:p>
            <a:r>
              <a:rPr lang="en-US" sz="2000" b="1" dirty="0"/>
              <a:t>0</a:t>
            </a:r>
            <a:endParaRPr lang="en-IN" sz="2000" b="1" dirty="0"/>
          </a:p>
        </p:txBody>
      </p:sp>
      <p:sp>
        <p:nvSpPr>
          <p:cNvPr id="107" name="Rectangle: Rounded Corners 106">
            <a:extLst>
              <a:ext uri="{FF2B5EF4-FFF2-40B4-BE49-F238E27FC236}">
                <a16:creationId xmlns:a16="http://schemas.microsoft.com/office/drawing/2014/main" id="{C312E6CA-3C85-FB59-219E-5B90BA75FD6C}"/>
              </a:ext>
            </a:extLst>
          </p:cNvPr>
          <p:cNvSpPr/>
          <p:nvPr/>
        </p:nvSpPr>
        <p:spPr>
          <a:xfrm>
            <a:off x="20655990"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PYQS</a:t>
            </a:r>
          </a:p>
          <a:p>
            <a:r>
              <a:rPr lang="en-US" sz="2000" b="1" dirty="0"/>
              <a:t>0</a:t>
            </a:r>
            <a:endParaRPr lang="en-IN" sz="1000" b="1" dirty="0"/>
          </a:p>
        </p:txBody>
      </p:sp>
      <p:sp>
        <p:nvSpPr>
          <p:cNvPr id="108" name="Rectangle: Rounded Corners 107">
            <a:extLst>
              <a:ext uri="{FF2B5EF4-FFF2-40B4-BE49-F238E27FC236}">
                <a16:creationId xmlns:a16="http://schemas.microsoft.com/office/drawing/2014/main" id="{1EF7FD32-72EC-A789-9A07-AE527172A73E}"/>
              </a:ext>
            </a:extLst>
          </p:cNvPr>
          <p:cNvSpPr/>
          <p:nvPr/>
        </p:nvSpPr>
        <p:spPr>
          <a:xfrm>
            <a:off x="19020747"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ASSIGNMENT</a:t>
            </a:r>
          </a:p>
          <a:p>
            <a:r>
              <a:rPr lang="en-US" sz="2000" b="1" dirty="0"/>
              <a:t>0</a:t>
            </a:r>
            <a:endParaRPr lang="en-IN" sz="2000" b="1" dirty="0"/>
          </a:p>
        </p:txBody>
      </p:sp>
      <p:sp>
        <p:nvSpPr>
          <p:cNvPr id="109" name="Rectangle: Rounded Corners 108">
            <a:extLst>
              <a:ext uri="{FF2B5EF4-FFF2-40B4-BE49-F238E27FC236}">
                <a16:creationId xmlns:a16="http://schemas.microsoft.com/office/drawing/2014/main" id="{0184A4D5-D436-E1AD-091B-EA26DD2C8555}"/>
              </a:ext>
            </a:extLst>
          </p:cNvPr>
          <p:cNvSpPr/>
          <p:nvPr/>
        </p:nvSpPr>
        <p:spPr>
          <a:xfrm>
            <a:off x="12515176"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TOTAL</a:t>
            </a:r>
            <a:endParaRPr lang="en-US" sz="700" b="1" dirty="0"/>
          </a:p>
          <a:p>
            <a:r>
              <a:rPr lang="en-US" sz="2000" b="1" dirty="0"/>
              <a:t>12</a:t>
            </a:r>
            <a:endParaRPr lang="en-IN" sz="2000" b="1" dirty="0"/>
          </a:p>
        </p:txBody>
      </p:sp>
      <p:sp>
        <p:nvSpPr>
          <p:cNvPr id="110" name="Rectangle: Rounded Corners 109">
            <a:extLst>
              <a:ext uri="{FF2B5EF4-FFF2-40B4-BE49-F238E27FC236}">
                <a16:creationId xmlns:a16="http://schemas.microsoft.com/office/drawing/2014/main" id="{4D99E62B-A65B-F2AF-8F2E-10752FA84C57}"/>
              </a:ext>
            </a:extLst>
          </p:cNvPr>
          <p:cNvSpPr/>
          <p:nvPr/>
        </p:nvSpPr>
        <p:spPr>
          <a:xfrm>
            <a:off x="14137224"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SYLLABUS</a:t>
            </a:r>
          </a:p>
          <a:p>
            <a:r>
              <a:rPr lang="en-US" sz="2000" b="1" dirty="0"/>
              <a:t>7</a:t>
            </a:r>
            <a:endParaRPr lang="en-IN" sz="2000" b="1" dirty="0"/>
          </a:p>
        </p:txBody>
      </p:sp>
      <p:sp>
        <p:nvSpPr>
          <p:cNvPr id="111" name="Rectangle: Rounded Corners 110">
            <a:extLst>
              <a:ext uri="{FF2B5EF4-FFF2-40B4-BE49-F238E27FC236}">
                <a16:creationId xmlns:a16="http://schemas.microsoft.com/office/drawing/2014/main" id="{C1C03F47-E93E-1BF0-9DDA-2C29E72403C2}"/>
              </a:ext>
            </a:extLst>
          </p:cNvPr>
          <p:cNvSpPr/>
          <p:nvPr/>
        </p:nvSpPr>
        <p:spPr>
          <a:xfrm>
            <a:off x="17385504"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TEXTBOOK</a:t>
            </a:r>
          </a:p>
          <a:p>
            <a:r>
              <a:rPr lang="en-US" sz="2000" b="1" dirty="0"/>
              <a:t>0</a:t>
            </a:r>
            <a:endParaRPr lang="en-IN" sz="2000" b="1" dirty="0"/>
          </a:p>
        </p:txBody>
      </p:sp>
      <p:sp>
        <p:nvSpPr>
          <p:cNvPr id="3" name="TextBox 2">
            <a:extLst>
              <a:ext uri="{FF2B5EF4-FFF2-40B4-BE49-F238E27FC236}">
                <a16:creationId xmlns:a16="http://schemas.microsoft.com/office/drawing/2014/main" id="{4C20596C-D3B5-5781-BE51-8AA9451F6207}"/>
              </a:ext>
            </a:extLst>
          </p:cNvPr>
          <p:cNvSpPr txBox="1"/>
          <p:nvPr/>
        </p:nvSpPr>
        <p:spPr>
          <a:xfrm>
            <a:off x="1927026" y="1012032"/>
            <a:ext cx="2029420" cy="461665"/>
          </a:xfrm>
          <a:prstGeom prst="rect">
            <a:avLst/>
          </a:prstGeom>
          <a:noFill/>
        </p:spPr>
        <p:txBody>
          <a:bodyPr wrap="square" rtlCol="0">
            <a:spAutoFit/>
          </a:bodyPr>
          <a:lstStyle/>
          <a:p>
            <a:pPr algn="l"/>
            <a:r>
              <a:rPr lang="en-GB" sz="2400" b="1" dirty="0">
                <a:solidFill>
                  <a:schemeClr val="bg1"/>
                </a:solidFill>
              </a:rPr>
              <a:t>Budget Page </a:t>
            </a:r>
            <a:endParaRPr lang="en-US" sz="2400" b="1" dirty="0">
              <a:solidFill>
                <a:schemeClr val="bg1"/>
              </a:solidFill>
            </a:endParaRPr>
          </a:p>
        </p:txBody>
      </p:sp>
      <p:sp>
        <p:nvSpPr>
          <p:cNvPr id="14" name="Rectangle: Rounded Corners 13">
            <a:extLst>
              <a:ext uri="{FF2B5EF4-FFF2-40B4-BE49-F238E27FC236}">
                <a16:creationId xmlns:a16="http://schemas.microsoft.com/office/drawing/2014/main" id="{DEB86652-CCEC-0E6F-A617-1CD94ABDABAA}"/>
              </a:ext>
            </a:extLst>
          </p:cNvPr>
          <p:cNvSpPr/>
          <p:nvPr/>
        </p:nvSpPr>
        <p:spPr>
          <a:xfrm>
            <a:off x="1726402" y="1787917"/>
            <a:ext cx="2230040" cy="608864"/>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Create budget </a:t>
            </a:r>
            <a:endParaRPr lang="en-US" dirty="0">
              <a:solidFill>
                <a:schemeClr val="bg1"/>
              </a:solidFill>
            </a:endParaRPr>
          </a:p>
        </p:txBody>
      </p:sp>
      <p:sp>
        <p:nvSpPr>
          <p:cNvPr id="15" name="Rectangle: Rounded Corners 14">
            <a:extLst>
              <a:ext uri="{FF2B5EF4-FFF2-40B4-BE49-F238E27FC236}">
                <a16:creationId xmlns:a16="http://schemas.microsoft.com/office/drawing/2014/main" id="{23213995-6AFF-3677-189A-F9529E19629A}"/>
              </a:ext>
            </a:extLst>
          </p:cNvPr>
          <p:cNvSpPr/>
          <p:nvPr/>
        </p:nvSpPr>
        <p:spPr>
          <a:xfrm>
            <a:off x="1726404" y="2615844"/>
            <a:ext cx="2230040" cy="692747"/>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Edit budget </a:t>
            </a:r>
            <a:endParaRPr lang="en-US" dirty="0"/>
          </a:p>
        </p:txBody>
      </p:sp>
      <p:sp>
        <p:nvSpPr>
          <p:cNvPr id="23" name="Rectangle: Rounded Corners 22">
            <a:extLst>
              <a:ext uri="{FF2B5EF4-FFF2-40B4-BE49-F238E27FC236}">
                <a16:creationId xmlns:a16="http://schemas.microsoft.com/office/drawing/2014/main" id="{C2AF43DF-3256-A9EA-C180-80929FD5AE4F}"/>
              </a:ext>
            </a:extLst>
          </p:cNvPr>
          <p:cNvSpPr/>
          <p:nvPr/>
        </p:nvSpPr>
        <p:spPr>
          <a:xfrm rot="10800000" flipV="1">
            <a:off x="1739199" y="3527654"/>
            <a:ext cx="2230041" cy="692747"/>
          </a:xfrm>
          <a:prstGeom prst="roundRect">
            <a:avLst>
              <a:gd name="adj" fmla="val 0"/>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Delete budget </a:t>
            </a:r>
            <a:endParaRPr lang="en-US" dirty="0">
              <a:solidFill>
                <a:schemeClr val="bg1"/>
              </a:solidFill>
            </a:endParaRPr>
          </a:p>
        </p:txBody>
      </p:sp>
      <p:sp>
        <p:nvSpPr>
          <p:cNvPr id="24" name="Rectangle: Rounded Corners 23">
            <a:extLst>
              <a:ext uri="{FF2B5EF4-FFF2-40B4-BE49-F238E27FC236}">
                <a16:creationId xmlns:a16="http://schemas.microsoft.com/office/drawing/2014/main" id="{24BFBA6A-CF1E-994D-A620-8297B4FA2C9C}"/>
              </a:ext>
            </a:extLst>
          </p:cNvPr>
          <p:cNvSpPr/>
          <p:nvPr/>
        </p:nvSpPr>
        <p:spPr>
          <a:xfrm>
            <a:off x="2096387" y="4439464"/>
            <a:ext cx="1490069" cy="465910"/>
          </a:xfrm>
          <a:prstGeom prst="roundRect">
            <a:avLst>
              <a:gd name="adj" fmla="val 50000"/>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Back </a:t>
            </a:r>
            <a:endParaRPr lang="en-US" dirty="0"/>
          </a:p>
        </p:txBody>
      </p:sp>
      <p:sp>
        <p:nvSpPr>
          <p:cNvPr id="26" name="Rectangle: Rounded Corners 25">
            <a:extLst>
              <a:ext uri="{FF2B5EF4-FFF2-40B4-BE49-F238E27FC236}">
                <a16:creationId xmlns:a16="http://schemas.microsoft.com/office/drawing/2014/main" id="{7A487B89-4A31-B240-B4CC-C4C33DD74BF3}"/>
              </a:ext>
            </a:extLst>
          </p:cNvPr>
          <p:cNvSpPr/>
          <p:nvPr/>
        </p:nvSpPr>
        <p:spPr>
          <a:xfrm>
            <a:off x="6250781" y="263549"/>
            <a:ext cx="5512593" cy="1474931"/>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Create Budget option is used to set a new budget limit.
Users can define how much money they want to spend in a specific category or period.</a:t>
            </a:r>
            <a:endParaRPr lang="en-US" dirty="0"/>
          </a:p>
        </p:txBody>
      </p:sp>
      <p:sp>
        <p:nvSpPr>
          <p:cNvPr id="27" name="Rectangle: Rounded Corners 26">
            <a:extLst>
              <a:ext uri="{FF2B5EF4-FFF2-40B4-BE49-F238E27FC236}">
                <a16:creationId xmlns:a16="http://schemas.microsoft.com/office/drawing/2014/main" id="{EF74A9E3-A101-7826-63D3-089E3804F110}"/>
              </a:ext>
            </a:extLst>
          </p:cNvPr>
          <p:cNvSpPr/>
          <p:nvPr/>
        </p:nvSpPr>
        <p:spPr>
          <a:xfrm>
            <a:off x="6250780" y="1841897"/>
            <a:ext cx="5512593" cy="1331889"/>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Edit Budget option allows users to modify an existing budget.
It helps in updating the budget based on changing financial needs.</a:t>
            </a:r>
            <a:endParaRPr lang="en-US" dirty="0"/>
          </a:p>
        </p:txBody>
      </p:sp>
      <p:sp>
        <p:nvSpPr>
          <p:cNvPr id="30" name="Rectangle: Rounded Corners 29">
            <a:extLst>
              <a:ext uri="{FF2B5EF4-FFF2-40B4-BE49-F238E27FC236}">
                <a16:creationId xmlns:a16="http://schemas.microsoft.com/office/drawing/2014/main" id="{F930104C-CDC8-D7DF-21CD-8D1C2E3AD01F}"/>
              </a:ext>
            </a:extLst>
          </p:cNvPr>
          <p:cNvSpPr/>
          <p:nvPr/>
        </p:nvSpPr>
        <p:spPr>
          <a:xfrm>
            <a:off x="6250780" y="3306001"/>
            <a:ext cx="5512592" cy="1599373"/>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Delete Budget option is used to remove an existing budget.
It helps users manage and clear unnecessary or old budget entries.</a:t>
            </a:r>
            <a:endParaRPr lang="en-US" dirty="0"/>
          </a:p>
        </p:txBody>
      </p:sp>
      <p:sp>
        <p:nvSpPr>
          <p:cNvPr id="31" name="Rectangle: Rounded Corners 30">
            <a:extLst>
              <a:ext uri="{FF2B5EF4-FFF2-40B4-BE49-F238E27FC236}">
                <a16:creationId xmlns:a16="http://schemas.microsoft.com/office/drawing/2014/main" id="{819DA360-0943-5F9C-51A2-F9CC574B8308}"/>
              </a:ext>
            </a:extLst>
          </p:cNvPr>
          <p:cNvSpPr/>
          <p:nvPr/>
        </p:nvSpPr>
        <p:spPr>
          <a:xfrm>
            <a:off x="6250780" y="5008791"/>
            <a:ext cx="5512592" cy="1585660"/>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Back button returns the user to the previous page (Home Page).
It helps in easy navigation within the system.</a:t>
            </a:r>
            <a:endParaRPr lang="en-US" dirty="0"/>
          </a:p>
        </p:txBody>
      </p:sp>
      <p:cxnSp>
        <p:nvCxnSpPr>
          <p:cNvPr id="32" name="Straight Arrow Connector 31">
            <a:extLst>
              <a:ext uri="{FF2B5EF4-FFF2-40B4-BE49-F238E27FC236}">
                <a16:creationId xmlns:a16="http://schemas.microsoft.com/office/drawing/2014/main" id="{E2964349-6B4E-0F5D-27FD-E2D9B1F5F50F}"/>
              </a:ext>
            </a:extLst>
          </p:cNvPr>
          <p:cNvCxnSpPr>
            <a:cxnSpLocks/>
            <a:stCxn id="14" idx="3"/>
            <a:endCxn id="26" idx="1"/>
          </p:cNvCxnSpPr>
          <p:nvPr/>
        </p:nvCxnSpPr>
        <p:spPr>
          <a:xfrm flipV="1">
            <a:off x="3956442" y="1001015"/>
            <a:ext cx="2294339" cy="109133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7CA6001-5345-D110-F9D7-346408891DFD}"/>
              </a:ext>
            </a:extLst>
          </p:cNvPr>
          <p:cNvCxnSpPr>
            <a:cxnSpLocks/>
            <a:stCxn id="15" idx="3"/>
            <a:endCxn id="27" idx="1"/>
          </p:cNvCxnSpPr>
          <p:nvPr/>
        </p:nvCxnSpPr>
        <p:spPr>
          <a:xfrm flipV="1">
            <a:off x="3956444" y="2507842"/>
            <a:ext cx="2294336" cy="45437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2FAF2FA-AC78-394D-5DB4-C864A2EE05C5}"/>
              </a:ext>
            </a:extLst>
          </p:cNvPr>
          <p:cNvCxnSpPr>
            <a:cxnSpLocks/>
            <a:stCxn id="23" idx="1"/>
            <a:endCxn id="30" idx="1"/>
          </p:cNvCxnSpPr>
          <p:nvPr/>
        </p:nvCxnSpPr>
        <p:spPr>
          <a:xfrm>
            <a:off x="3969240" y="3874028"/>
            <a:ext cx="2281540" cy="23166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30BDEF9-4BAB-7027-9C82-FFA390A74F84}"/>
              </a:ext>
            </a:extLst>
          </p:cNvPr>
          <p:cNvCxnSpPr>
            <a:cxnSpLocks/>
            <a:stCxn id="24" idx="3"/>
            <a:endCxn id="31" idx="1"/>
          </p:cNvCxnSpPr>
          <p:nvPr/>
        </p:nvCxnSpPr>
        <p:spPr>
          <a:xfrm>
            <a:off x="3586456" y="4672419"/>
            <a:ext cx="2664324" cy="11292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0255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77AF728-1454-906F-118A-55B02922BDBF}"/>
              </a:ext>
            </a:extLst>
          </p:cNvPr>
          <p:cNvSpPr/>
          <p:nvPr/>
        </p:nvSpPr>
        <p:spPr>
          <a:xfrm>
            <a:off x="1388707" y="1382602"/>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Multi-user (family/group) expense tracking</a:t>
            </a:r>
          </a:p>
          <a:p>
            <a:pPr algn="ctr"/>
            <a:r>
              <a:rPr lang="en-GB" sz="1400" dirty="0">
                <a:solidFill>
                  <a:schemeClr val="bg1"/>
                </a:solidFill>
              </a:rPr>
              <a:t>Cloud storage for anytime access</a:t>
            </a:r>
            <a:endParaRPr lang="en-IN" sz="1400" dirty="0">
              <a:solidFill>
                <a:schemeClr val="bg1"/>
              </a:solidFill>
            </a:endParaRPr>
          </a:p>
        </p:txBody>
      </p:sp>
      <p:sp>
        <p:nvSpPr>
          <p:cNvPr id="10" name="Rectangle: Rounded Corners 9">
            <a:extLst>
              <a:ext uri="{FF2B5EF4-FFF2-40B4-BE49-F238E27FC236}">
                <a16:creationId xmlns:a16="http://schemas.microsoft.com/office/drawing/2014/main" id="{D3271D69-3712-2CD5-37A1-6117FC745441}"/>
              </a:ext>
            </a:extLst>
          </p:cNvPr>
          <p:cNvSpPr/>
          <p:nvPr/>
        </p:nvSpPr>
        <p:spPr>
          <a:xfrm>
            <a:off x="1388707" y="2410073"/>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AI-based expense prediction and suggestions</a:t>
            </a:r>
          </a:p>
          <a:p>
            <a:pPr algn="ctr"/>
            <a:r>
              <a:rPr lang="en-GB" sz="1400" dirty="0">
                <a:solidFill>
                  <a:schemeClr val="bg1"/>
                </a:solidFill>
              </a:rPr>
              <a:t>Advanced data analytics and insights</a:t>
            </a:r>
            <a:endParaRPr lang="en-IN" sz="1400" dirty="0">
              <a:solidFill>
                <a:schemeClr val="bg1"/>
              </a:solidFill>
            </a:endParaRPr>
          </a:p>
        </p:txBody>
      </p:sp>
      <p:sp>
        <p:nvSpPr>
          <p:cNvPr id="6" name="Rectangle: Rounded Corners 5">
            <a:extLst>
              <a:ext uri="{FF2B5EF4-FFF2-40B4-BE49-F238E27FC236}">
                <a16:creationId xmlns:a16="http://schemas.microsoft.com/office/drawing/2014/main" id="{C7D2FC75-126C-CC71-31EF-51E4DC8948D0}"/>
              </a:ext>
            </a:extLst>
          </p:cNvPr>
          <p:cNvSpPr/>
          <p:nvPr/>
        </p:nvSpPr>
        <p:spPr>
          <a:xfrm>
            <a:off x="2301591" y="453342"/>
            <a:ext cx="2094633"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2000" dirty="0"/>
              <a:t>Future Scope</a:t>
            </a:r>
          </a:p>
        </p:txBody>
      </p:sp>
      <p:pic>
        <p:nvPicPr>
          <p:cNvPr id="12" name="Graphic 11" descr="Bar graph with upward trend with solid fill">
            <a:extLst>
              <a:ext uri="{FF2B5EF4-FFF2-40B4-BE49-F238E27FC236}">
                <a16:creationId xmlns:a16="http://schemas.microsoft.com/office/drawing/2014/main" id="{AE92D597-2593-47D9-0D24-F4B19E9385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88354" y="477654"/>
            <a:ext cx="426575" cy="426575"/>
          </a:xfrm>
          <a:prstGeom prst="rect">
            <a:avLst/>
          </a:prstGeom>
        </p:spPr>
      </p:pic>
      <p:sp>
        <p:nvSpPr>
          <p:cNvPr id="15" name="Rectangle: Rounded Corners 14">
            <a:extLst>
              <a:ext uri="{FF2B5EF4-FFF2-40B4-BE49-F238E27FC236}">
                <a16:creationId xmlns:a16="http://schemas.microsoft.com/office/drawing/2014/main" id="{8A34F6A3-FAF8-629B-D8E5-16EB1D110A09}"/>
              </a:ext>
            </a:extLst>
          </p:cNvPr>
          <p:cNvSpPr/>
          <p:nvPr/>
        </p:nvSpPr>
        <p:spPr>
          <a:xfrm>
            <a:off x="7685287" y="453342"/>
            <a:ext cx="2315614"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2000" dirty="0"/>
              <a:t>Future Updates</a:t>
            </a:r>
          </a:p>
        </p:txBody>
      </p:sp>
      <p:pic>
        <p:nvPicPr>
          <p:cNvPr id="18" name="Graphic 17" descr="Internet with solid fill">
            <a:extLst>
              <a:ext uri="{FF2B5EF4-FFF2-40B4-BE49-F238E27FC236}">
                <a16:creationId xmlns:a16="http://schemas.microsoft.com/office/drawing/2014/main" id="{088770EE-D73D-1141-A3F1-3CDC2ED047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904" y="477654"/>
            <a:ext cx="426575" cy="426575"/>
          </a:xfrm>
          <a:prstGeom prst="rect">
            <a:avLst/>
          </a:prstGeom>
        </p:spPr>
      </p:pic>
      <p:sp>
        <p:nvSpPr>
          <p:cNvPr id="23" name="Rectangle: Rounded Corners 22">
            <a:extLst>
              <a:ext uri="{FF2B5EF4-FFF2-40B4-BE49-F238E27FC236}">
                <a16:creationId xmlns:a16="http://schemas.microsoft.com/office/drawing/2014/main" id="{995F84E6-1DEA-086E-37B8-BA218419BE17}"/>
              </a:ext>
            </a:extLst>
          </p:cNvPr>
          <p:cNvSpPr/>
          <p:nvPr/>
        </p:nvSpPr>
        <p:spPr>
          <a:xfrm>
            <a:off x="6882893" y="2449404"/>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Personalized alerts and reminders
Multi-currency support</a:t>
            </a:r>
            <a:endParaRPr lang="en-IN" sz="1400" dirty="0">
              <a:solidFill>
                <a:schemeClr val="bg1"/>
              </a:solidFill>
            </a:endParaRPr>
          </a:p>
        </p:txBody>
      </p:sp>
      <p:grpSp>
        <p:nvGrpSpPr>
          <p:cNvPr id="41" name="Group 40">
            <a:extLst>
              <a:ext uri="{FF2B5EF4-FFF2-40B4-BE49-F238E27FC236}">
                <a16:creationId xmlns:a16="http://schemas.microsoft.com/office/drawing/2014/main" id="{B91B8D05-FB81-0E76-B233-DD4E36DC5A77}"/>
              </a:ext>
            </a:extLst>
          </p:cNvPr>
          <p:cNvGrpSpPr/>
          <p:nvPr/>
        </p:nvGrpSpPr>
        <p:grpSpPr>
          <a:xfrm>
            <a:off x="5186975" y="3875053"/>
            <a:ext cx="1818051" cy="475200"/>
            <a:chOff x="5184728" y="3875053"/>
            <a:chExt cx="1818051" cy="475200"/>
          </a:xfrm>
        </p:grpSpPr>
        <p:sp>
          <p:nvSpPr>
            <p:cNvPr id="29" name="Rectangle: Rounded Corners 28">
              <a:extLst>
                <a:ext uri="{FF2B5EF4-FFF2-40B4-BE49-F238E27FC236}">
                  <a16:creationId xmlns:a16="http://schemas.microsoft.com/office/drawing/2014/main" id="{526A4661-30C2-F064-1526-B9F4032E560E}"/>
                </a:ext>
              </a:extLst>
            </p:cNvPr>
            <p:cNvSpPr/>
            <p:nvPr/>
          </p:nvSpPr>
          <p:spPr>
            <a:xfrm>
              <a:off x="5184728" y="3875053"/>
              <a:ext cx="1818051"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2000" dirty="0"/>
                <a:t>References</a:t>
              </a:r>
            </a:p>
          </p:txBody>
        </p:sp>
        <p:pic>
          <p:nvPicPr>
            <p:cNvPr id="32" name="Graphic 31" descr="Lightbulb with solid fill">
              <a:extLst>
                <a:ext uri="{FF2B5EF4-FFF2-40B4-BE49-F238E27FC236}">
                  <a16:creationId xmlns:a16="http://schemas.microsoft.com/office/drawing/2014/main" id="{8AC06240-99DE-811E-7868-F81E09C1B4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00469" y="3918755"/>
              <a:ext cx="387795" cy="387795"/>
            </a:xfrm>
            <a:prstGeom prst="rect">
              <a:avLst/>
            </a:prstGeom>
          </p:spPr>
        </p:pic>
      </p:grpSp>
      <p:sp>
        <p:nvSpPr>
          <p:cNvPr id="35" name="Rectangle: Rounded Corners 34">
            <a:extLst>
              <a:ext uri="{FF2B5EF4-FFF2-40B4-BE49-F238E27FC236}">
                <a16:creationId xmlns:a16="http://schemas.microsoft.com/office/drawing/2014/main" id="{67D3F2E0-526B-0655-A349-EA1DB45AEE7C}"/>
              </a:ext>
            </a:extLst>
          </p:cNvPr>
          <p:cNvSpPr/>
          <p:nvPr/>
        </p:nvSpPr>
        <p:spPr>
          <a:xfrm>
            <a:off x="1445920" y="4576733"/>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Wingdings" panose="05000000000000000000" pitchFamily="2" charset="2"/>
              <a:buChar char="q"/>
            </a:pPr>
            <a:r>
              <a:rPr lang="en-GB" altLang="en-US" sz="1400" dirty="0">
                <a:solidFill>
                  <a:schemeClr val="bg1"/>
                </a:solidFill>
              </a:rPr>
              <a:t>Uses data analysis and reporting tools</a:t>
            </a:r>
            <a:endParaRPr lang="en-US" altLang="en-US" sz="1400" dirty="0">
              <a:solidFill>
                <a:schemeClr val="bg1"/>
              </a:solidFill>
            </a:endParaRPr>
          </a:p>
        </p:txBody>
      </p:sp>
      <p:sp>
        <p:nvSpPr>
          <p:cNvPr id="37" name="Rectangle: Rounded Corners 36">
            <a:extLst>
              <a:ext uri="{FF2B5EF4-FFF2-40B4-BE49-F238E27FC236}">
                <a16:creationId xmlns:a16="http://schemas.microsoft.com/office/drawing/2014/main" id="{05611C35-1E58-B172-1233-C3688AB4E5E9}"/>
              </a:ext>
            </a:extLst>
          </p:cNvPr>
          <p:cNvSpPr/>
          <p:nvPr/>
        </p:nvSpPr>
        <p:spPr>
          <a:xfrm>
            <a:off x="1445920" y="5373620"/>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Wingdings" panose="05000000000000000000" pitchFamily="2" charset="2"/>
              <a:buChar char="q"/>
            </a:pPr>
            <a:r>
              <a:rPr lang="en-GB" altLang="en-US" sz="1400" dirty="0">
                <a:solidFill>
                  <a:schemeClr val="bg1"/>
                </a:solidFill>
              </a:rPr>
              <a:t>Based on mobile application technology</a:t>
            </a:r>
            <a:endParaRPr lang="en-US" altLang="en-US" sz="1400" dirty="0">
              <a:solidFill>
                <a:schemeClr val="bg1"/>
              </a:solidFill>
            </a:endParaRPr>
          </a:p>
        </p:txBody>
      </p:sp>
      <p:sp>
        <p:nvSpPr>
          <p:cNvPr id="36" name="Rectangle: Rounded Corners 35">
            <a:extLst>
              <a:ext uri="{FF2B5EF4-FFF2-40B4-BE49-F238E27FC236}">
                <a16:creationId xmlns:a16="http://schemas.microsoft.com/office/drawing/2014/main" id="{2CEE311C-2395-F507-36FC-CFAA71858208}"/>
              </a:ext>
            </a:extLst>
          </p:cNvPr>
          <p:cNvSpPr/>
          <p:nvPr/>
        </p:nvSpPr>
        <p:spPr>
          <a:xfrm>
            <a:off x="6954307" y="5365544"/>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Wingdings" panose="05000000000000000000" pitchFamily="2" charset="2"/>
              <a:buChar char="q"/>
            </a:pPr>
            <a:r>
              <a:rPr lang="en-GB" altLang="en-US" sz="1400" dirty="0">
                <a:solidFill>
                  <a:schemeClr val="bg1"/>
                </a:solidFill>
              </a:rPr>
              <a:t>Inspired by real-world finance apps</a:t>
            </a:r>
            <a:endParaRPr lang="en-US" altLang="en-US" sz="1400" dirty="0">
              <a:solidFill>
                <a:schemeClr val="bg1"/>
              </a:solidFill>
            </a:endParaRPr>
          </a:p>
        </p:txBody>
      </p:sp>
      <p:sp>
        <p:nvSpPr>
          <p:cNvPr id="38" name="Rectangle: Rounded Corners 37">
            <a:extLst>
              <a:ext uri="{FF2B5EF4-FFF2-40B4-BE49-F238E27FC236}">
                <a16:creationId xmlns:a16="http://schemas.microsoft.com/office/drawing/2014/main" id="{37776165-3A64-9042-0E6E-4144D3585DE1}"/>
              </a:ext>
            </a:extLst>
          </p:cNvPr>
          <p:cNvSpPr/>
          <p:nvPr/>
        </p:nvSpPr>
        <p:spPr>
          <a:xfrm>
            <a:off x="6954307" y="4584809"/>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Wingdings" panose="05000000000000000000" pitchFamily="2" charset="2"/>
              <a:buChar char="q"/>
            </a:pPr>
            <a:r>
              <a:rPr lang="en-GB" altLang="en-US" sz="1400" dirty="0">
                <a:solidFill>
                  <a:schemeClr val="bg1"/>
                </a:solidFill>
              </a:rPr>
              <a:t>Uses database management systems (DBMS)</a:t>
            </a:r>
            <a:endParaRPr lang="en-US" altLang="en-US" sz="1400" dirty="0">
              <a:solidFill>
                <a:schemeClr val="bg1"/>
              </a:solidFill>
            </a:endParaRPr>
          </a:p>
        </p:txBody>
      </p:sp>
      <p:sp>
        <p:nvSpPr>
          <p:cNvPr id="42" name="Rectangle: Rounded Corners 41">
            <a:extLst>
              <a:ext uri="{FF2B5EF4-FFF2-40B4-BE49-F238E27FC236}">
                <a16:creationId xmlns:a16="http://schemas.microsoft.com/office/drawing/2014/main" id="{73CA7F80-0856-E5C8-C71A-643C6C368DAF}"/>
              </a:ext>
            </a:extLst>
          </p:cNvPr>
          <p:cNvSpPr/>
          <p:nvPr/>
        </p:nvSpPr>
        <p:spPr>
          <a:xfrm>
            <a:off x="-6249363" y="1091842"/>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Centralized platform for managing and sharing academic resources</a:t>
            </a:r>
            <a:endParaRPr lang="en-US" altLang="en-US" sz="1400" dirty="0">
              <a:solidFill>
                <a:schemeClr val="bg1"/>
              </a:solidFill>
            </a:endParaRPr>
          </a:p>
        </p:txBody>
      </p:sp>
      <p:sp>
        <p:nvSpPr>
          <p:cNvPr id="43" name="Rectangle: Rounded Corners 42">
            <a:extLst>
              <a:ext uri="{FF2B5EF4-FFF2-40B4-BE49-F238E27FC236}">
                <a16:creationId xmlns:a16="http://schemas.microsoft.com/office/drawing/2014/main" id="{862FE0BF-8E2F-41B9-48C2-FE1C77EF1C0D}"/>
              </a:ext>
            </a:extLst>
          </p:cNvPr>
          <p:cNvSpPr/>
          <p:nvPr/>
        </p:nvSpPr>
        <p:spPr>
          <a:xfrm>
            <a:off x="-6249363" y="2446543"/>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Easy upload, access, and organization of study materials</a:t>
            </a:r>
            <a:endParaRPr lang="en-US" altLang="en-US" sz="1400" dirty="0">
              <a:solidFill>
                <a:schemeClr val="bg1"/>
              </a:solidFill>
            </a:endParaRPr>
          </a:p>
        </p:txBody>
      </p:sp>
      <p:sp>
        <p:nvSpPr>
          <p:cNvPr id="44" name="Rectangle: Rounded Corners 43">
            <a:extLst>
              <a:ext uri="{FF2B5EF4-FFF2-40B4-BE49-F238E27FC236}">
                <a16:creationId xmlns:a16="http://schemas.microsoft.com/office/drawing/2014/main" id="{CCF6E090-DD97-0892-3AEC-9C8EC02DF22C}"/>
              </a:ext>
            </a:extLst>
          </p:cNvPr>
          <p:cNvSpPr/>
          <p:nvPr/>
        </p:nvSpPr>
        <p:spPr>
          <a:xfrm>
            <a:off x="-6249363" y="3809063"/>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Trending resources to highlight popular study content</a:t>
            </a:r>
            <a:endParaRPr lang="en-US" altLang="en-US" sz="1400" dirty="0">
              <a:solidFill>
                <a:schemeClr val="bg1"/>
              </a:solidFill>
            </a:endParaRPr>
          </a:p>
        </p:txBody>
      </p:sp>
      <p:sp>
        <p:nvSpPr>
          <p:cNvPr id="45" name="Rectangle: Rounded Corners 44">
            <a:extLst>
              <a:ext uri="{FF2B5EF4-FFF2-40B4-BE49-F238E27FC236}">
                <a16:creationId xmlns:a16="http://schemas.microsoft.com/office/drawing/2014/main" id="{5D6F3842-A6B1-A0D9-16ED-94A6F73C975C}"/>
              </a:ext>
            </a:extLst>
          </p:cNvPr>
          <p:cNvSpPr/>
          <p:nvPr/>
        </p:nvSpPr>
        <p:spPr>
          <a:xfrm>
            <a:off x="-6249363" y="5165453"/>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Cloud integration (Cloudinary, Render, Vercel) for accessibility and storage</a:t>
            </a:r>
            <a:endParaRPr lang="en-US" altLang="en-US" sz="1400" dirty="0">
              <a:solidFill>
                <a:schemeClr val="bg1"/>
              </a:solidFill>
            </a:endParaRPr>
          </a:p>
        </p:txBody>
      </p:sp>
      <p:sp>
        <p:nvSpPr>
          <p:cNvPr id="46" name="Rectangle: Rounded Corners 45">
            <a:extLst>
              <a:ext uri="{FF2B5EF4-FFF2-40B4-BE49-F238E27FC236}">
                <a16:creationId xmlns:a16="http://schemas.microsoft.com/office/drawing/2014/main" id="{3DDC65CE-93C9-207E-B8E6-CF8A719B877A}"/>
              </a:ext>
            </a:extLst>
          </p:cNvPr>
          <p:cNvSpPr/>
          <p:nvPr/>
        </p:nvSpPr>
        <p:spPr>
          <a:xfrm>
            <a:off x="12312209" y="1764720"/>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Role-based authentication for secure access (students &amp; teachers)</a:t>
            </a:r>
            <a:endParaRPr lang="en-US" altLang="en-US" sz="1400" dirty="0">
              <a:solidFill>
                <a:schemeClr val="bg1"/>
              </a:solidFill>
            </a:endParaRPr>
          </a:p>
        </p:txBody>
      </p:sp>
      <p:sp>
        <p:nvSpPr>
          <p:cNvPr id="47" name="Rectangle: Rounded Corners 46">
            <a:extLst>
              <a:ext uri="{FF2B5EF4-FFF2-40B4-BE49-F238E27FC236}">
                <a16:creationId xmlns:a16="http://schemas.microsoft.com/office/drawing/2014/main" id="{89AF3139-A726-41BA-229E-C9F69727B671}"/>
              </a:ext>
            </a:extLst>
          </p:cNvPr>
          <p:cNvSpPr/>
          <p:nvPr/>
        </p:nvSpPr>
        <p:spPr>
          <a:xfrm>
            <a:off x="12312209" y="3125989"/>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Advanced features: search, filtering, bookmarking, and notifications</a:t>
            </a:r>
            <a:endParaRPr lang="en-US" altLang="en-US" sz="1400" dirty="0">
              <a:solidFill>
                <a:schemeClr val="bg1"/>
              </a:solidFill>
            </a:endParaRPr>
          </a:p>
        </p:txBody>
      </p:sp>
      <p:sp>
        <p:nvSpPr>
          <p:cNvPr id="48" name="Rectangle: Rounded Corners 47">
            <a:extLst>
              <a:ext uri="{FF2B5EF4-FFF2-40B4-BE49-F238E27FC236}">
                <a16:creationId xmlns:a16="http://schemas.microsoft.com/office/drawing/2014/main" id="{D24BDA3E-2B85-3A31-2B78-5E1A0E9EA996}"/>
              </a:ext>
            </a:extLst>
          </p:cNvPr>
          <p:cNvSpPr/>
          <p:nvPr/>
        </p:nvSpPr>
        <p:spPr>
          <a:xfrm>
            <a:off x="12312209" y="4487258"/>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Built using modern technologies: Node.js, Express.js, MongoDB, React (Vite)</a:t>
            </a:r>
            <a:endParaRPr lang="en-US" altLang="en-US" sz="1400" dirty="0">
              <a:solidFill>
                <a:schemeClr val="bg1"/>
              </a:solidFill>
            </a:endParaRPr>
          </a:p>
        </p:txBody>
      </p:sp>
      <p:sp>
        <p:nvSpPr>
          <p:cNvPr id="49" name="Rectangle: Rounded Corners 48">
            <a:extLst>
              <a:ext uri="{FF2B5EF4-FFF2-40B4-BE49-F238E27FC236}">
                <a16:creationId xmlns:a16="http://schemas.microsoft.com/office/drawing/2014/main" id="{7F6C540E-DE77-A951-08F1-5A4842614231}"/>
              </a:ext>
            </a:extLst>
          </p:cNvPr>
          <p:cNvSpPr/>
          <p:nvPr/>
        </p:nvSpPr>
        <p:spPr>
          <a:xfrm>
            <a:off x="12312209" y="5843648"/>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Improves learning efficiency and replaces traditional unorganized methods </a:t>
            </a:r>
          </a:p>
        </p:txBody>
      </p:sp>
      <p:sp>
        <p:nvSpPr>
          <p:cNvPr id="2" name="Flowchart: Terminator 1">
            <a:extLst>
              <a:ext uri="{FF2B5EF4-FFF2-40B4-BE49-F238E27FC236}">
                <a16:creationId xmlns:a16="http://schemas.microsoft.com/office/drawing/2014/main" id="{E2B7F746-6813-EAC3-7140-685AC7F95CAE}"/>
              </a:ext>
            </a:extLst>
          </p:cNvPr>
          <p:cNvSpPr/>
          <p:nvPr/>
        </p:nvSpPr>
        <p:spPr>
          <a:xfrm rot="10800000" flipV="1">
            <a:off x="7005026" y="1382598"/>
            <a:ext cx="3741052" cy="737908"/>
          </a:xfrm>
          <a:prstGeom prst="flowChartTerminator">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Bank account integration for auto tracking
Voice input feature for adding expenses</a:t>
            </a:r>
            <a:endParaRPr lang="en-US" sz="1400" dirty="0"/>
          </a:p>
        </p:txBody>
      </p:sp>
    </p:spTree>
    <p:extLst>
      <p:ext uri="{BB962C8B-B14F-4D97-AF65-F5344CB8AC3E}">
        <p14:creationId xmlns:p14="http://schemas.microsoft.com/office/powerpoint/2010/main" val="246645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A51E55D7-FA3D-6B6F-24BD-4030B8E572E8}"/>
              </a:ext>
            </a:extLst>
          </p:cNvPr>
          <p:cNvSpPr/>
          <p:nvPr/>
        </p:nvSpPr>
        <p:spPr>
          <a:xfrm>
            <a:off x="961673" y="975593"/>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Helps users easily record and organize their daily expenses.</a:t>
            </a:r>
            <a:endParaRPr lang="en-US" altLang="en-US" sz="1600" dirty="0">
              <a:solidFill>
                <a:schemeClr val="bg1"/>
              </a:solidFill>
            </a:endParaRPr>
          </a:p>
        </p:txBody>
      </p:sp>
      <p:sp>
        <p:nvSpPr>
          <p:cNvPr id="10" name="Rectangle: Rounded Corners 9">
            <a:extLst>
              <a:ext uri="{FF2B5EF4-FFF2-40B4-BE49-F238E27FC236}">
                <a16:creationId xmlns:a16="http://schemas.microsoft.com/office/drawing/2014/main" id="{0E7978B2-A0CB-4B48-6D6F-9F902D7E78C5}"/>
              </a:ext>
            </a:extLst>
          </p:cNvPr>
          <p:cNvSpPr/>
          <p:nvPr/>
        </p:nvSpPr>
        <p:spPr>
          <a:xfrm>
            <a:off x="961673" y="2110369"/>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Generates useful insights through charts and summaries.</a:t>
            </a:r>
            <a:endParaRPr lang="en-US" altLang="en-US" sz="1600" dirty="0">
              <a:solidFill>
                <a:schemeClr val="bg1"/>
              </a:solidFill>
            </a:endParaRPr>
          </a:p>
        </p:txBody>
      </p:sp>
      <p:sp>
        <p:nvSpPr>
          <p:cNvPr id="12" name="Rectangle: Rounded Corners 11">
            <a:extLst>
              <a:ext uri="{FF2B5EF4-FFF2-40B4-BE49-F238E27FC236}">
                <a16:creationId xmlns:a16="http://schemas.microsoft.com/office/drawing/2014/main" id="{F1BA5308-A3B4-1AA4-2FB9-F6535F8EFA70}"/>
              </a:ext>
            </a:extLst>
          </p:cNvPr>
          <p:cNvSpPr/>
          <p:nvPr/>
        </p:nvSpPr>
        <p:spPr>
          <a:xfrm>
            <a:off x="961673" y="3229814"/>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Expenses are updated instantly, improving financial awareness.</a:t>
            </a:r>
            <a:endParaRPr lang="en-US" altLang="en-US" sz="1600" dirty="0">
              <a:solidFill>
                <a:schemeClr val="bg1"/>
              </a:solidFill>
            </a:endParaRPr>
          </a:p>
        </p:txBody>
      </p:sp>
      <p:sp>
        <p:nvSpPr>
          <p:cNvPr id="14" name="Rectangle: Rounded Corners 13">
            <a:extLst>
              <a:ext uri="{FF2B5EF4-FFF2-40B4-BE49-F238E27FC236}">
                <a16:creationId xmlns:a16="http://schemas.microsoft.com/office/drawing/2014/main" id="{830DA6AF-06A5-7AA7-FACB-67531179B866}"/>
              </a:ext>
            </a:extLst>
          </p:cNvPr>
          <p:cNvSpPr/>
          <p:nvPr/>
        </p:nvSpPr>
        <p:spPr>
          <a:xfrm>
            <a:off x="961673" y="4366279"/>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Ensures safety and proper organization of financial data.</a:t>
            </a:r>
            <a:endParaRPr lang="en-US" altLang="en-US" sz="1600" dirty="0">
              <a:solidFill>
                <a:schemeClr val="bg1"/>
              </a:solidFill>
            </a:endParaRPr>
          </a:p>
        </p:txBody>
      </p:sp>
      <p:sp>
        <p:nvSpPr>
          <p:cNvPr id="4" name="Rectangle: Rounded Corners 3">
            <a:extLst>
              <a:ext uri="{FF2B5EF4-FFF2-40B4-BE49-F238E27FC236}">
                <a16:creationId xmlns:a16="http://schemas.microsoft.com/office/drawing/2014/main" id="{194D619C-BCDC-EFF6-5952-BE903E5F7CF4}"/>
              </a:ext>
            </a:extLst>
          </p:cNvPr>
          <p:cNvSpPr/>
          <p:nvPr/>
        </p:nvSpPr>
        <p:spPr>
          <a:xfrm>
            <a:off x="5110702" y="325120"/>
            <a:ext cx="1970597" cy="52272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dirty="0"/>
              <a:t>Conclusion</a:t>
            </a:r>
          </a:p>
        </p:txBody>
      </p:sp>
      <p:pic>
        <p:nvPicPr>
          <p:cNvPr id="6" name="Graphic 5" descr="Checkmark with solid fill">
            <a:extLst>
              <a:ext uri="{FF2B5EF4-FFF2-40B4-BE49-F238E27FC236}">
                <a16:creationId xmlns:a16="http://schemas.microsoft.com/office/drawing/2014/main" id="{7180BA48-7C8C-65BD-D348-F0ED484208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67812" y="373192"/>
            <a:ext cx="426575" cy="426575"/>
          </a:xfrm>
          <a:prstGeom prst="rect">
            <a:avLst/>
          </a:prstGeom>
        </p:spPr>
      </p:pic>
      <p:sp>
        <p:nvSpPr>
          <p:cNvPr id="9" name="Rectangle: Rounded Corners 8">
            <a:extLst>
              <a:ext uri="{FF2B5EF4-FFF2-40B4-BE49-F238E27FC236}">
                <a16:creationId xmlns:a16="http://schemas.microsoft.com/office/drawing/2014/main" id="{A010935F-7179-A84D-599B-6AF9A150DD3B}"/>
              </a:ext>
            </a:extLst>
          </p:cNvPr>
          <p:cNvSpPr/>
          <p:nvPr/>
        </p:nvSpPr>
        <p:spPr>
          <a:xfrm>
            <a:off x="5228492" y="1532721"/>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Assists in setting budgets and controlling unnecessary spending.</a:t>
            </a:r>
            <a:endParaRPr lang="en-US" altLang="en-US" sz="1600" dirty="0">
              <a:solidFill>
                <a:schemeClr val="bg1"/>
              </a:solidFill>
            </a:endParaRPr>
          </a:p>
        </p:txBody>
      </p:sp>
      <p:sp>
        <p:nvSpPr>
          <p:cNvPr id="11" name="Rectangle: Rounded Corners 10">
            <a:extLst>
              <a:ext uri="{FF2B5EF4-FFF2-40B4-BE49-F238E27FC236}">
                <a16:creationId xmlns:a16="http://schemas.microsoft.com/office/drawing/2014/main" id="{8BFF0443-C398-8373-31FE-71DC2489282B}"/>
              </a:ext>
            </a:extLst>
          </p:cNvPr>
          <p:cNvSpPr/>
          <p:nvPr/>
        </p:nvSpPr>
        <p:spPr>
          <a:xfrm>
            <a:off x="5228492" y="2662490"/>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Automates calculations and reduces manual record keeping.</a:t>
            </a:r>
            <a:endParaRPr lang="en-US" altLang="en-US" sz="1600" dirty="0">
              <a:solidFill>
                <a:schemeClr val="bg1"/>
              </a:solidFill>
            </a:endParaRPr>
          </a:p>
        </p:txBody>
      </p:sp>
      <p:sp>
        <p:nvSpPr>
          <p:cNvPr id="13" name="Rectangle: Rounded Corners 12">
            <a:extLst>
              <a:ext uri="{FF2B5EF4-FFF2-40B4-BE49-F238E27FC236}">
                <a16:creationId xmlns:a16="http://schemas.microsoft.com/office/drawing/2014/main" id="{56401F91-7CF4-4099-263C-E1D80EFDF298}"/>
              </a:ext>
            </a:extLst>
          </p:cNvPr>
          <p:cNvSpPr/>
          <p:nvPr/>
        </p:nvSpPr>
        <p:spPr>
          <a:xfrm>
            <a:off x="5228492" y="3792259"/>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Designed with a simple interface for easy access and usage.</a:t>
            </a:r>
            <a:endParaRPr lang="en-US" altLang="en-US" sz="1600" dirty="0">
              <a:solidFill>
                <a:schemeClr val="bg1"/>
              </a:solidFill>
            </a:endParaRPr>
          </a:p>
        </p:txBody>
      </p:sp>
      <p:sp>
        <p:nvSpPr>
          <p:cNvPr id="15" name="Rectangle: Rounded Corners 14">
            <a:extLst>
              <a:ext uri="{FF2B5EF4-FFF2-40B4-BE49-F238E27FC236}">
                <a16:creationId xmlns:a16="http://schemas.microsoft.com/office/drawing/2014/main" id="{9DA47B7D-52EB-D2F3-5381-C03EB9BD1438}"/>
              </a:ext>
            </a:extLst>
          </p:cNvPr>
          <p:cNvSpPr/>
          <p:nvPr/>
        </p:nvSpPr>
        <p:spPr>
          <a:xfrm>
            <a:off x="5228492" y="4940299"/>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dirty="0"/>
              <a:t> </a:t>
            </a:r>
            <a:r>
              <a:rPr lang="en-GB" sz="1400" dirty="0"/>
              <a:t>Helps users make informed financial decisions using insights and reports.</a:t>
            </a:r>
            <a:endParaRPr lang="en-US" sz="1400" dirty="0"/>
          </a:p>
        </p:txBody>
      </p:sp>
      <p:sp>
        <p:nvSpPr>
          <p:cNvPr id="23" name="TextBox 22">
            <a:extLst>
              <a:ext uri="{FF2B5EF4-FFF2-40B4-BE49-F238E27FC236}">
                <a16:creationId xmlns:a16="http://schemas.microsoft.com/office/drawing/2014/main" id="{0C589387-1FC5-0D66-CAE8-0E8DAF963DA2}"/>
              </a:ext>
            </a:extLst>
          </p:cNvPr>
          <p:cNvSpPr txBox="1"/>
          <p:nvPr/>
        </p:nvSpPr>
        <p:spPr>
          <a:xfrm>
            <a:off x="3782396" y="5719007"/>
            <a:ext cx="4627209" cy="769441"/>
          </a:xfrm>
          <a:prstGeom prst="rect">
            <a:avLst/>
          </a:prstGeom>
          <a:noFill/>
        </p:spPr>
        <p:txBody>
          <a:bodyPr wrap="square" rtlCol="0">
            <a:spAutoFit/>
          </a:bodyPr>
          <a:lstStyle/>
          <a:p>
            <a:pPr algn="ctr"/>
            <a:r>
              <a:rPr lang="en-US" sz="4400" b="1" dirty="0">
                <a:solidFill>
                  <a:schemeClr val="bg1"/>
                </a:solidFill>
                <a:latin typeface="Franklin Gothic Heavy" panose="020B0903020102020204" pitchFamily="34" charset="0"/>
              </a:rPr>
              <a:t>Thank </a:t>
            </a:r>
            <a:r>
              <a:rPr lang="en-US" sz="4400" b="1" dirty="0">
                <a:solidFill>
                  <a:srgbClr val="00B0F0"/>
                </a:solidFill>
                <a:latin typeface="Franklin Gothic Heavy" panose="020B0903020102020204" pitchFamily="34" charset="0"/>
              </a:rPr>
              <a:t>You</a:t>
            </a:r>
            <a:endParaRPr lang="en-IN" sz="6000" b="1" dirty="0">
              <a:solidFill>
                <a:srgbClr val="00B0F0"/>
              </a:solidFill>
              <a:latin typeface="Franklin Gothic Heavy" panose="020B0903020102020204" pitchFamily="34" charset="0"/>
            </a:endParaRPr>
          </a:p>
        </p:txBody>
      </p:sp>
    </p:spTree>
    <p:extLst>
      <p:ext uri="{BB962C8B-B14F-4D97-AF65-F5344CB8AC3E}">
        <p14:creationId xmlns:p14="http://schemas.microsoft.com/office/powerpoint/2010/main" val="1597335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815</TotalTime>
  <Words>1037</Words>
  <Application>Microsoft Office PowerPoint</Application>
  <PresentationFormat>Widescreen</PresentationFormat>
  <Paragraphs>133</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Broadway</vt:lpstr>
      <vt:lpstr>Calibri</vt:lpstr>
      <vt:lpstr>Calibri Light</vt:lpstr>
      <vt:lpstr>Franklin Gothic Heavy</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Ritesh Shahane</dc:creator>
  <cp:lastModifiedBy>nandini14142@gmail.com</cp:lastModifiedBy>
  <cp:revision>11</cp:revision>
  <dcterms:created xsi:type="dcterms:W3CDTF">2026-04-04T12:16:07Z</dcterms:created>
  <dcterms:modified xsi:type="dcterms:W3CDTF">2026-04-10T05:39:53Z</dcterms:modified>
</cp:coreProperties>
</file>